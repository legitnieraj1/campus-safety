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Poppins"/>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Poppins-bold.fntdata"/><Relationship Id="rId10" Type="http://schemas.openxmlformats.org/officeDocument/2006/relationships/slide" Target="slides/slide5.xml"/><Relationship Id="rId21" Type="http://schemas.openxmlformats.org/officeDocument/2006/relationships/font" Target="fonts/Poppins-regular.fntdata"/><Relationship Id="rId13" Type="http://schemas.openxmlformats.org/officeDocument/2006/relationships/slide" Target="slides/slide8.xml"/><Relationship Id="rId24" Type="http://schemas.openxmlformats.org/officeDocument/2006/relationships/font" Target="fonts/Poppins-boldItalic.fntdata"/><Relationship Id="rId12" Type="http://schemas.openxmlformats.org/officeDocument/2006/relationships/slide" Target="slides/slide7.xml"/><Relationship Id="rId23" Type="http://schemas.openxmlformats.org/officeDocument/2006/relationships/font" Target="fonts/Poppi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7fa3dcd40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7fa3dcd40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7fa3dcd40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7fa3dcd40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7fa3dcd40f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7fa3dcd40f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7fa3dcd40f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7fa3dcd40f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7fa3dcd40f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7fa3dcd40f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7fa3dcd40f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7fa3dcd40f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7fa3dcd40f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7fa3dcd40f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7fa3dcd40f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7fa3dcd40f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7fa3dcd40f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7fa3dcd40f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7fa3dcd40f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7fa3dcd40f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7fa3dcd40f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7fa3dcd40f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7fa3dcd40f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7fa3dcd40f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81babfb1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81babfb1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7fa3dcd40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7fa3dcd40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56" name="Google Shape;56;p13" title="AMD.PS.S1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57" name="Google Shape;57;p13"/>
          <p:cNvSpPr txBox="1"/>
          <p:nvPr/>
        </p:nvSpPr>
        <p:spPr>
          <a:xfrm>
            <a:off x="179825" y="3316325"/>
            <a:ext cx="3000000" cy="4617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b="1" lang="en-GB" sz="1800">
                <a:solidFill>
                  <a:schemeClr val="dk1"/>
                </a:solidFill>
                <a:latin typeface="Poppins"/>
                <a:ea typeface="Poppins"/>
                <a:cs typeface="Poppins"/>
                <a:sym typeface="Poppins"/>
              </a:rPr>
              <a:t>Team Details</a:t>
            </a:r>
            <a:endParaRPr sz="1800">
              <a:latin typeface="Poppins"/>
              <a:ea typeface="Poppins"/>
              <a:cs typeface="Poppins"/>
              <a:sym typeface="Poppins"/>
            </a:endParaRPr>
          </a:p>
        </p:txBody>
      </p:sp>
      <p:sp>
        <p:nvSpPr>
          <p:cNvPr id="58" name="Google Shape;58;p13"/>
          <p:cNvSpPr txBox="1"/>
          <p:nvPr/>
        </p:nvSpPr>
        <p:spPr>
          <a:xfrm>
            <a:off x="540825" y="3778025"/>
            <a:ext cx="3000000" cy="8958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Font typeface="Poppins"/>
              <a:buChar char="➔"/>
            </a:pPr>
            <a:r>
              <a:rPr lang="en-GB">
                <a:solidFill>
                  <a:schemeClr val="dk1"/>
                </a:solidFill>
                <a:latin typeface="Poppins"/>
                <a:ea typeface="Poppins"/>
                <a:cs typeface="Poppins"/>
                <a:sym typeface="Poppins"/>
              </a:rPr>
              <a:t>Team name - HackVision 2026</a:t>
            </a:r>
            <a:endParaRPr>
              <a:solidFill>
                <a:schemeClr val="dk1"/>
              </a:solidFill>
              <a:latin typeface="Poppins"/>
              <a:ea typeface="Poppins"/>
              <a:cs typeface="Poppins"/>
              <a:sym typeface="Poppins"/>
            </a:endParaRPr>
          </a:p>
          <a:p>
            <a:pPr indent="-317500" lvl="0" marL="457200" rtl="0" algn="l">
              <a:lnSpc>
                <a:spcPct val="115000"/>
              </a:lnSpc>
              <a:spcBef>
                <a:spcPts val="0"/>
              </a:spcBef>
              <a:spcAft>
                <a:spcPts val="0"/>
              </a:spcAft>
              <a:buClr>
                <a:schemeClr val="dk1"/>
              </a:buClr>
              <a:buSzPts val="1400"/>
              <a:buFont typeface="Poppins"/>
              <a:buChar char="➔"/>
            </a:pPr>
            <a:r>
              <a:rPr lang="en-GB">
                <a:solidFill>
                  <a:schemeClr val="dk1"/>
                </a:solidFill>
                <a:latin typeface="Poppins"/>
                <a:ea typeface="Poppins"/>
                <a:cs typeface="Poppins"/>
                <a:sym typeface="Poppins"/>
              </a:rPr>
              <a:t>Team leader name - Invinciblx</a:t>
            </a:r>
            <a:endParaRPr>
              <a:solidFill>
                <a:schemeClr val="dk1"/>
              </a:solidFill>
              <a:latin typeface="Poppins"/>
              <a:ea typeface="Poppins"/>
              <a:cs typeface="Poppins"/>
              <a:sym typeface="Poppins"/>
            </a:endParaRPr>
          </a:p>
          <a:p>
            <a:pPr indent="-317500" lvl="0" marL="457200" rtl="0" algn="l">
              <a:lnSpc>
                <a:spcPct val="115000"/>
              </a:lnSpc>
              <a:spcBef>
                <a:spcPts val="0"/>
              </a:spcBef>
              <a:spcAft>
                <a:spcPts val="0"/>
              </a:spcAft>
              <a:buClr>
                <a:schemeClr val="dk1"/>
              </a:buClr>
              <a:buSzPts val="1400"/>
              <a:buFont typeface="Poppins"/>
              <a:buChar char="➔"/>
            </a:pPr>
            <a:r>
              <a:rPr lang="en-GB">
                <a:solidFill>
                  <a:schemeClr val="dk1"/>
                </a:solidFill>
                <a:latin typeface="Poppins"/>
                <a:ea typeface="Poppins"/>
                <a:cs typeface="Poppins"/>
                <a:sym typeface="Poppins"/>
              </a:rPr>
              <a:t>Problem Statement - Real-time campus safety monitoring for earthquake, gas leak, and fire hazard detection using IoT sensors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ctrTitle"/>
          </p:nvPr>
        </p:nvSpPr>
        <p:spPr>
          <a:xfrm>
            <a:off x="311700" y="744575"/>
            <a:ext cx="8520600" cy="447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990"/>
              <a:buNone/>
            </a:pPr>
            <a:r>
              <a:rPr b="1" lang="en-GB" sz="1620">
                <a:latin typeface="Poppins"/>
                <a:ea typeface="Poppins"/>
                <a:cs typeface="Poppins"/>
                <a:sym typeface="Poppins"/>
              </a:rPr>
              <a:t>Brief about the idea</a:t>
            </a:r>
            <a:endParaRPr b="1" sz="1620">
              <a:latin typeface="Poppins"/>
              <a:ea typeface="Poppins"/>
              <a:cs typeface="Poppins"/>
              <a:sym typeface="Poppins"/>
            </a:endParaRPr>
          </a:p>
        </p:txBody>
      </p:sp>
      <p:sp>
        <p:nvSpPr>
          <p:cNvPr id="64" name="Google Shape;64;p14"/>
          <p:cNvSpPr txBox="1"/>
          <p:nvPr>
            <p:ph idx="1" type="subTitle"/>
          </p:nvPr>
        </p:nvSpPr>
        <p:spPr>
          <a:xfrm>
            <a:off x="311700" y="1249775"/>
            <a:ext cx="8520600" cy="3525000"/>
          </a:xfrm>
          <a:prstGeom prst="rect">
            <a:avLst/>
          </a:prstGeom>
        </p:spPr>
        <p:txBody>
          <a:bodyPr anchorCtr="0" anchor="t" bIns="91425" lIns="91425" spcFirstLastPara="1" rIns="91425" wrap="square" tIns="91425">
            <a:normAutofit/>
          </a:bodyPr>
          <a:lstStyle/>
          <a:p>
            <a:pPr indent="0" lvl="0" marL="0" rtl="0" algn="l">
              <a:spcBef>
                <a:spcPts val="0"/>
              </a:spcBef>
              <a:spcAft>
                <a:spcPts val="300"/>
              </a:spcAft>
              <a:buNone/>
            </a:pPr>
            <a:r>
              <a:rPr lang="en-GB" sz="1300">
                <a:latin typeface="Poppins"/>
                <a:ea typeface="Poppins"/>
                <a:cs typeface="Poppins"/>
                <a:sym typeface="Poppins"/>
              </a:rPr>
              <a:t>SafetyHub is an IoT-powered real-time campus safety monitoring platform that uses ESP32 microcontrollers equipped with seismic (MPU6050), gas (MQ-Series), and temperature/humidity (DHT11) sensors to continuously monitor environmental hazards across campus zones.</a:t>
            </a:r>
          </a:p>
          <a:p>
            <a:pPr indent="0" lvl="0" marL="0" rtl="0" algn="l">
              <a:spcBef>
                <a:spcPts val="0"/>
              </a:spcBef>
              <a:spcAft>
                <a:spcPts val="300"/>
              </a:spcAft>
              <a:buNone/>
            </a:pPr>
            <a:r>
              <a:rPr lang="en-GB" sz="1300">
                <a:latin typeface="Poppins"/>
                <a:ea typeface="Poppins"/>
                <a:cs typeface="Poppins"/>
                <a:sym typeface="Poppins"/>
              </a:rPr>
              <a:t>Sensor data flows through a Python gateway to a Next.js real-time dashboard via Server-Sent Events (SSE), providing instant alerts for earthquakes (magnitude 2.5+ G), gas leaks (800+ PPM), and high temperatures (45+ C) with intelligent alert debouncing to eliminate false positives.</a:t>
            </a:r>
          </a:p>
          <a:p>
            <a:pPr indent="0" lvl="0" marL="0" rtl="0" algn="l">
              <a:spcBef>
                <a:spcPts val="0"/>
              </a:spcBef>
              <a:spcAft>
                <a:spcPts val="0"/>
              </a:spcAft>
              <a:buNone/>
            </a:pPr>
            <a:r>
              <a:rPr lang="en-GB" sz="1300">
                <a:latin typeface="Poppins"/>
                <a:ea typeface="Poppins"/>
                <a:cs typeface="Poppins"/>
                <a:sym typeface="Poppins"/>
              </a:rPr>
              <a:t>The mobile-first progressive web app provides campus security and administrators a unified command view with live waveform visualizations, historical trends, zone-based mapping, and a complete alert history log.</a:t>
            </a:r>
            <a:endParaRPr sz="1300">
              <a:latin typeface="Poppins"/>
              <a:ea typeface="Poppins"/>
              <a:cs typeface="Poppins"/>
              <a:sym typeface="Poppins"/>
            </a:endParaRPr>
          </a:p>
        </p:txBody>
      </p:sp>
      <p:pic>
        <p:nvPicPr>
          <p:cNvPr id="65" name="Google Shape;65;p14" title="AMD.PS.S22.png"/>
          <p:cNvPicPr preferRelativeResize="0"/>
          <p:nvPr/>
        </p:nvPicPr>
        <p:blipFill rotWithShape="1">
          <a:blip r:embed="rId3">
            <a:alphaModFix/>
          </a:blip>
          <a:srcRect b="89082" l="0" r="0" t="0"/>
          <a:stretch/>
        </p:blipFill>
        <p:spPr>
          <a:xfrm>
            <a:off x="0" y="0"/>
            <a:ext cx="9144000" cy="561524"/>
          </a:xfrm>
          <a:prstGeom prst="rect">
            <a:avLst/>
          </a:prstGeom>
          <a:noFill/>
          <a:ln>
            <a:noFill/>
          </a:ln>
        </p:spPr>
      </p:pic>
      <p:pic>
        <p:nvPicPr>
          <p:cNvPr id="66" name="Google Shape;66;p14" title="AMD.PS.S11.png"/>
          <p:cNvPicPr preferRelativeResize="0"/>
          <p:nvPr/>
        </p:nvPicPr>
        <p:blipFill rotWithShape="1">
          <a:blip r:embed="rId4">
            <a:alphaModFix/>
          </a:blip>
          <a:srcRect b="0" l="0" r="0" t="98295"/>
          <a:stretch/>
        </p:blipFill>
        <p:spPr>
          <a:xfrm>
            <a:off x="0" y="5055825"/>
            <a:ext cx="9144000" cy="876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ctrTitle"/>
          </p:nvPr>
        </p:nvSpPr>
        <p:spPr>
          <a:xfrm>
            <a:off x="311700" y="744575"/>
            <a:ext cx="8520600" cy="447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990"/>
              <a:buNone/>
            </a:pPr>
            <a:r>
              <a:rPr b="1" lang="en-GB" sz="1620">
                <a:latin typeface="Poppins"/>
                <a:ea typeface="Poppins"/>
                <a:cs typeface="Poppins"/>
                <a:sym typeface="Poppins"/>
              </a:rPr>
              <a:t>Opportunities</a:t>
            </a:r>
            <a:endParaRPr b="1" sz="1620">
              <a:latin typeface="Poppins"/>
              <a:ea typeface="Poppins"/>
              <a:cs typeface="Poppins"/>
              <a:sym typeface="Poppins"/>
            </a:endParaRPr>
          </a:p>
        </p:txBody>
      </p:sp>
      <p:sp>
        <p:nvSpPr>
          <p:cNvPr id="72" name="Google Shape;72;p15"/>
          <p:cNvSpPr txBox="1"/>
          <p:nvPr>
            <p:ph idx="1" type="subTitle"/>
          </p:nvPr>
        </p:nvSpPr>
        <p:spPr>
          <a:xfrm>
            <a:off x="311700" y="2192150"/>
            <a:ext cx="8520600" cy="2582400"/>
          </a:xfrm>
          <a:prstGeom prst="rect">
            <a:avLst/>
          </a:prstGeom>
        </p:spPr>
        <p:txBody>
          <a:bodyPr anchorCtr="0" anchor="t" bIns="91425" lIns="91425" spcFirstLastPara="1" rIns="91425" wrap="square" tIns="91425">
            <a:normAutofit/>
          </a:bodyPr>
          <a:lstStyle/>
          <a:p>
            <a:pPr indent="0" lvl="0" marL="0" rtl="0" algn="l">
              <a:spcBef>
                <a:spcPts val="0"/>
              </a:spcBef>
              <a:spcAft>
                <a:spcPts val="200"/>
              </a:spcAft>
              <a:buNone/>
            </a:pPr>
            <a:r>
              <a:rPr b="1" lang="en-GB" sz="1300">
                <a:latin typeface="Poppins"/>
                <a:ea typeface="Poppins"/>
                <a:cs typeface="Poppins"/>
                <a:sym typeface="Poppins"/>
              </a:rPr>
              <a:t>Differentiation:</a:t>
            </a:r>
            <a:r>
              <a:rPr lang="en-GB" sz="1300">
                <a:latin typeface="Poppins"/>
                <a:ea typeface="Poppins"/>
                <a:cs typeface="Poppins"/>
                <a:sym typeface="Poppins"/>
              </a:rPr>
              <a:t xml:space="preserve"> Unlike commercial systems costing lakhs, SafetyHub runs on affordable ESP32 hardware (~₹1,080/zone). Most existing solutions detect single hazards. SafetyHub monitors 4 environmental parameters simultaneously with intelligent alert prioritization.</a:t>
            </a:r>
          </a:p>
          <a:p>
            <a:pPr indent="0" lvl="0" marL="0" rtl="0" algn="l">
              <a:spcBef>
                <a:spcPts val="0"/>
              </a:spcBef>
              <a:spcAft>
                <a:spcPts val="200"/>
              </a:spcAft>
              <a:buNone/>
            </a:pPr>
            <a:r>
              <a:rPr b="1" lang="en-GB" sz="1300">
                <a:latin typeface="Poppins"/>
                <a:ea typeface="Poppins"/>
                <a:cs typeface="Poppins"/>
                <a:sym typeface="Poppins"/>
              </a:rPr>
              <a:t>Problem Solving:</a:t>
            </a:r>
            <a:r>
              <a:rPr lang="en-GB" sz="1300">
                <a:latin typeface="Poppins"/>
                <a:ea typeface="Poppins"/>
                <a:cs typeface="Poppins"/>
                <a:sym typeface="Poppins"/>
              </a:rPr>
              <a:t xml:space="preserve"> Campus safety incidents need sub-second detection. SafetyHub achieves 1Hz real-time monitoring with debounced alert logic that detects hazards within 3 seconds while eliminating 95%+ false positives through consecutive-reading validation.</a:t>
            </a:r>
          </a:p>
          <a:p>
            <a:pPr indent="0" lvl="0" marL="0" rtl="0" algn="l">
              <a:spcBef>
                <a:spcPts val="0"/>
              </a:spcBef>
              <a:spcAft>
                <a:spcPts val="0"/>
              </a:spcAft>
              <a:buNone/>
            </a:pPr>
            <a:r>
              <a:rPr b="1" lang="en-GB" sz="1300">
                <a:latin typeface="Poppins"/>
                <a:ea typeface="Poppins"/>
                <a:cs typeface="Poppins"/>
                <a:sym typeface="Poppins"/>
              </a:rPr>
              <a:t>USP:</a:t>
            </a:r>
            <a:r>
              <a:rPr lang="en-GB" sz="1300">
                <a:latin typeface="Poppins"/>
                <a:ea typeface="Poppins"/>
                <a:cs typeface="Poppins"/>
                <a:sym typeface="Poppins"/>
              </a:rPr>
              <a:t xml:space="preserve"> End-to-end IoT solution: hardware sensors + Python gateway + real-time SSE streaming backend + production-grade Next.js 16 dashboard. All running on low-cost hardware under ₹2,000 per zone with zero licensing fees.</a:t>
            </a:r>
            <a:endParaRPr sz="1300">
              <a:latin typeface="Poppins"/>
              <a:ea typeface="Poppins"/>
              <a:cs typeface="Poppins"/>
              <a:sym typeface="Poppins"/>
            </a:endParaRPr>
          </a:p>
        </p:txBody>
      </p:sp>
      <p:sp>
        <p:nvSpPr>
          <p:cNvPr id="73" name="Google Shape;73;p15"/>
          <p:cNvSpPr txBox="1"/>
          <p:nvPr/>
        </p:nvSpPr>
        <p:spPr>
          <a:xfrm>
            <a:off x="311700" y="1192175"/>
            <a:ext cx="8520600" cy="8958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Font typeface="Poppins"/>
              <a:buChar char="➔"/>
            </a:pPr>
            <a:r>
              <a:rPr lang="en-GB">
                <a:solidFill>
                  <a:schemeClr val="dk1"/>
                </a:solidFill>
                <a:latin typeface="Poppins"/>
                <a:ea typeface="Poppins"/>
                <a:cs typeface="Poppins"/>
                <a:sym typeface="Poppins"/>
              </a:rPr>
              <a:t>How different is it from any of the other existing ideas?</a:t>
            </a:r>
            <a:endParaRPr>
              <a:solidFill>
                <a:schemeClr val="dk1"/>
              </a:solidFill>
              <a:latin typeface="Poppins"/>
              <a:ea typeface="Poppins"/>
              <a:cs typeface="Poppins"/>
              <a:sym typeface="Poppins"/>
            </a:endParaRPr>
          </a:p>
          <a:p>
            <a:pPr indent="-317500" lvl="0" marL="457200" rtl="0" algn="l">
              <a:lnSpc>
                <a:spcPct val="115000"/>
              </a:lnSpc>
              <a:spcBef>
                <a:spcPts val="0"/>
              </a:spcBef>
              <a:spcAft>
                <a:spcPts val="0"/>
              </a:spcAft>
              <a:buClr>
                <a:schemeClr val="dk1"/>
              </a:buClr>
              <a:buSzPts val="1400"/>
              <a:buFont typeface="Poppins"/>
              <a:buChar char="➔"/>
            </a:pPr>
            <a:r>
              <a:rPr lang="en-GB">
                <a:solidFill>
                  <a:schemeClr val="dk1"/>
                </a:solidFill>
                <a:latin typeface="Poppins"/>
                <a:ea typeface="Poppins"/>
                <a:cs typeface="Poppins"/>
                <a:sym typeface="Poppins"/>
              </a:rPr>
              <a:t>How will it be able to solve the problem?</a:t>
            </a:r>
            <a:endParaRPr>
              <a:solidFill>
                <a:schemeClr val="dk1"/>
              </a:solidFill>
              <a:latin typeface="Poppins"/>
              <a:ea typeface="Poppins"/>
              <a:cs typeface="Poppins"/>
              <a:sym typeface="Poppins"/>
            </a:endParaRPr>
          </a:p>
          <a:p>
            <a:pPr indent="-317500" lvl="0" marL="457200" rtl="0" algn="l">
              <a:lnSpc>
                <a:spcPct val="115000"/>
              </a:lnSpc>
              <a:spcBef>
                <a:spcPts val="0"/>
              </a:spcBef>
              <a:spcAft>
                <a:spcPts val="0"/>
              </a:spcAft>
              <a:buClr>
                <a:schemeClr val="dk1"/>
              </a:buClr>
              <a:buSzPts val="1400"/>
              <a:buFont typeface="Poppins"/>
              <a:buChar char="➔"/>
            </a:pPr>
            <a:r>
              <a:rPr lang="en-GB">
                <a:solidFill>
                  <a:schemeClr val="dk1"/>
                </a:solidFill>
                <a:latin typeface="Poppins"/>
                <a:ea typeface="Poppins"/>
                <a:cs typeface="Poppins"/>
                <a:sym typeface="Poppins"/>
              </a:rPr>
              <a:t>USP of the proposed solution</a:t>
            </a:r>
            <a:endParaRPr/>
          </a:p>
        </p:txBody>
      </p:sp>
      <p:pic>
        <p:nvPicPr>
          <p:cNvPr id="74" name="Google Shape;74;p15" title="AMD.PS.S22.png"/>
          <p:cNvPicPr preferRelativeResize="0"/>
          <p:nvPr/>
        </p:nvPicPr>
        <p:blipFill rotWithShape="1">
          <a:blip r:embed="rId3">
            <a:alphaModFix/>
          </a:blip>
          <a:srcRect b="89082" l="0" r="0" t="0"/>
          <a:stretch/>
        </p:blipFill>
        <p:spPr>
          <a:xfrm>
            <a:off x="0" y="0"/>
            <a:ext cx="9144000" cy="561524"/>
          </a:xfrm>
          <a:prstGeom prst="rect">
            <a:avLst/>
          </a:prstGeom>
          <a:noFill/>
          <a:ln>
            <a:noFill/>
          </a:ln>
        </p:spPr>
      </p:pic>
      <p:pic>
        <p:nvPicPr>
          <p:cNvPr id="75" name="Google Shape;75;p15" title="AMD.PS.S11.png"/>
          <p:cNvPicPr preferRelativeResize="0"/>
          <p:nvPr/>
        </p:nvPicPr>
        <p:blipFill rotWithShape="1">
          <a:blip r:embed="rId4">
            <a:alphaModFix/>
          </a:blip>
          <a:srcRect b="0" l="0" r="0" t="98295"/>
          <a:stretch/>
        </p:blipFill>
        <p:spPr>
          <a:xfrm>
            <a:off x="0" y="5055825"/>
            <a:ext cx="9144000" cy="876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ctrTitle"/>
          </p:nvPr>
        </p:nvSpPr>
        <p:spPr>
          <a:xfrm>
            <a:off x="311700" y="744575"/>
            <a:ext cx="8520600" cy="447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990"/>
              <a:buNone/>
            </a:pPr>
            <a:r>
              <a:rPr b="1" lang="en-GB" sz="1620">
                <a:latin typeface="Poppins"/>
                <a:ea typeface="Poppins"/>
                <a:cs typeface="Poppins"/>
                <a:sym typeface="Poppins"/>
              </a:rPr>
              <a:t>List of features offered by the solution</a:t>
            </a:r>
            <a:endParaRPr b="1" sz="1620">
              <a:latin typeface="Poppins"/>
              <a:ea typeface="Poppins"/>
              <a:cs typeface="Poppins"/>
              <a:sym typeface="Poppins"/>
            </a:endParaRPr>
          </a:p>
        </p:txBody>
      </p:sp>
      <p:sp>
        <p:nvSpPr>
          <p:cNvPr id="81" name="Google Shape;81;p16"/>
          <p:cNvSpPr txBox="1"/>
          <p:nvPr>
            <p:ph idx="1" type="subTitle"/>
          </p:nvPr>
        </p:nvSpPr>
        <p:spPr>
          <a:xfrm>
            <a:off x="311700" y="1249775"/>
            <a:ext cx="8520600" cy="3525000"/>
          </a:xfrm>
          <a:prstGeom prst="rect">
            <a:avLst/>
          </a:prstGeom>
        </p:spPr>
        <p:txBody>
          <a:bodyPr anchorCtr="0" anchor="t" bIns="91425" lIns="91425" spcFirstLastPara="1" rIns="91425" wrap="square" tIns="91425">
            <a:normAutofit/>
          </a:bodyPr>
          <a:lstStyle/>
          <a:p>
            <a:pPr indent="0" lvl="0" marL="0" rtl="0" algn="l">
              <a:spcBef>
                <a:spcPts val="0"/>
              </a:spcBef>
              <a:spcAft>
                <a:spcPts val="150"/>
              </a:spcAft>
              <a:buNone/>
            </a:pPr>
            <a:r>
              <a:rPr b="1" lang="en-GB" sz="1100">
                <a:latin typeface="Poppins"/>
                <a:ea typeface="Poppins"/>
                <a:cs typeface="Poppins"/>
                <a:sym typeface="Poppins"/>
              </a:rPr>
              <a:t>1. Real-time Seismic Monitoring</a:t>
            </a:r>
            <a:r>
              <a:rPr lang="en-GB" sz="1100">
                <a:latin typeface="Poppins"/>
                <a:ea typeface="Poppins"/>
                <a:cs typeface="Poppins"/>
                <a:sym typeface="Poppins"/>
              </a:rPr>
              <a:t xml:space="preserve"> - MPU6050 accelerometer with live waveform canvas visualization</a:t>
            </a:r>
          </a:p>
          <a:p>
            <a:pPr indent="0" lvl="0" marL="0" rtl="0" algn="l">
              <a:spcBef>
                <a:spcPts val="0"/>
              </a:spcBef>
              <a:spcAft>
                <a:spcPts val="150"/>
              </a:spcAft>
              <a:buNone/>
            </a:pPr>
            <a:r>
              <a:rPr b="1" lang="en-GB" sz="1100">
                <a:latin typeface="Poppins"/>
                <a:ea typeface="Poppins"/>
                <a:cs typeface="Poppins"/>
                <a:sym typeface="Poppins"/>
              </a:rPr>
              <a:t>2. Gas Leak Detection</a:t>
            </a:r>
            <a:r>
              <a:rPr lang="en-GB" sz="1100">
                <a:latin typeface="Poppins"/>
                <a:ea typeface="Poppins"/>
                <a:cs typeface="Poppins"/>
                <a:sym typeface="Poppins"/>
              </a:rPr>
              <a:t xml:space="preserve"> - MQ-Series sensor with PPM tracking, 3-tier status (GOOD/MODERATE/DANGER)</a:t>
            </a:r>
          </a:p>
          <a:p>
            <a:pPr indent="0" lvl="0" marL="0" rtl="0" algn="l">
              <a:spcBef>
                <a:spcPts val="0"/>
              </a:spcBef>
              <a:spcAft>
                <a:spcPts val="150"/>
              </a:spcAft>
              <a:buNone/>
            </a:pPr>
            <a:r>
              <a:rPr b="1" lang="en-GB" sz="1100">
                <a:latin typeface="Poppins"/>
                <a:ea typeface="Poppins"/>
                <a:cs typeface="Poppins"/>
                <a:sym typeface="Poppins"/>
              </a:rPr>
              <a:t>3. Temperature and Humidity Monitoring</a:t>
            </a:r>
            <a:r>
              <a:rPr lang="en-GB" sz="1100">
                <a:latin typeface="Poppins"/>
                <a:ea typeface="Poppins"/>
                <a:cs typeface="Poppins"/>
                <a:sym typeface="Poppins"/>
              </a:rPr>
              <a:t xml:space="preserve"> - DHT11 sensor with trend analysis and unit conversion</a:t>
            </a:r>
          </a:p>
          <a:p>
            <a:pPr indent="0" lvl="0" marL="0" rtl="0" algn="l">
              <a:spcBef>
                <a:spcPts val="0"/>
              </a:spcBef>
              <a:spcAft>
                <a:spcPts val="150"/>
              </a:spcAft>
              <a:buNone/>
            </a:pPr>
            <a:r>
              <a:rPr b="1" lang="en-GB" sz="1100">
                <a:latin typeface="Poppins"/>
                <a:ea typeface="Poppins"/>
                <a:cs typeface="Poppins"/>
                <a:sym typeface="Poppins"/>
              </a:rPr>
              <a:t>4. Intelligent 3-Tier Alert System</a:t>
            </a:r>
            <a:r>
              <a:rPr lang="en-GB" sz="1100">
                <a:latin typeface="Poppins"/>
                <a:ea typeface="Poppins"/>
                <a:cs typeface="Poppins"/>
                <a:sym typeface="Poppins"/>
              </a:rPr>
              <a:t xml:space="preserve"> - NORMAL/WARNING/CRITICAL severity with prioritized hazard detection</a:t>
            </a:r>
          </a:p>
          <a:p>
            <a:pPr indent="0" lvl="0" marL="0" rtl="0" algn="l">
              <a:spcBef>
                <a:spcPts val="0"/>
              </a:spcBef>
              <a:spcAft>
                <a:spcPts val="150"/>
              </a:spcAft>
              <a:buNone/>
            </a:pPr>
            <a:r>
              <a:rPr b="1" lang="en-GB" sz="1100">
                <a:latin typeface="Poppins"/>
                <a:ea typeface="Poppins"/>
                <a:cs typeface="Poppins"/>
                <a:sym typeface="Poppins"/>
              </a:rPr>
              <a:t>5. Alert Debouncing Engine</a:t>
            </a:r>
            <a:r>
              <a:rPr lang="en-GB" sz="1100">
                <a:latin typeface="Poppins"/>
                <a:ea typeface="Poppins"/>
                <a:cs typeface="Poppins"/>
                <a:sym typeface="Poppins"/>
              </a:rPr>
              <a:t xml:space="preserve"> - 3 consecutive readings to trigger, 5 to clear. Eliminates 95%+ false positives</a:t>
            </a:r>
          </a:p>
          <a:p>
            <a:pPr indent="0" lvl="0" marL="0" rtl="0" algn="l">
              <a:spcBef>
                <a:spcPts val="0"/>
              </a:spcBef>
              <a:spcAft>
                <a:spcPts val="150"/>
              </a:spcAft>
              <a:buNone/>
            </a:pPr>
            <a:r>
              <a:rPr b="1" lang="en-GB" sz="1100">
                <a:latin typeface="Poppins"/>
                <a:ea typeface="Poppins"/>
                <a:cs typeface="Poppins"/>
                <a:sym typeface="Poppins"/>
              </a:rPr>
              <a:t>6. Real-time SSE Streaming</a:t>
            </a:r>
            <a:r>
              <a:rPr lang="en-GB" sz="1100">
                <a:latin typeface="Poppins"/>
                <a:ea typeface="Poppins"/>
                <a:cs typeface="Poppins"/>
                <a:sym typeface="Poppins"/>
              </a:rPr>
              <a:t xml:space="preserve"> - Server-Sent Events for zero-latency data push to all connected clients</a:t>
            </a:r>
          </a:p>
          <a:p>
            <a:pPr indent="0" lvl="0" marL="0" rtl="0" algn="l">
              <a:spcBef>
                <a:spcPts val="0"/>
              </a:spcBef>
              <a:spcAft>
                <a:spcPts val="150"/>
              </a:spcAft>
              <a:buNone/>
            </a:pPr>
            <a:r>
              <a:rPr b="1" lang="en-GB" sz="1100">
                <a:latin typeface="Poppins"/>
                <a:ea typeface="Poppins"/>
                <a:cs typeface="Poppins"/>
                <a:sym typeface="Poppins"/>
              </a:rPr>
              <a:t>7. Zone-Based Monitoring</a:t>
            </a:r>
            <a:r>
              <a:rPr lang="en-GB" sz="1100">
                <a:latin typeface="Poppins"/>
                <a:ea typeface="Poppins"/>
                <a:cs typeface="Poppins"/>
                <a:sym typeface="Poppins"/>
              </a:rPr>
              <a:t xml:space="preserve"> - Scalable architecture supporting unlimited campus zones with independent sensors</a:t>
            </a:r>
          </a:p>
          <a:p>
            <a:pPr indent="0" lvl="0" marL="0" rtl="0" algn="l">
              <a:spcBef>
                <a:spcPts val="0"/>
              </a:spcBef>
              <a:spcAft>
                <a:spcPts val="150"/>
              </a:spcAft>
              <a:buNone/>
            </a:pPr>
            <a:r>
              <a:rPr b="1" lang="en-GB" sz="1100">
                <a:latin typeface="Poppins"/>
                <a:ea typeface="Poppins"/>
                <a:cs typeface="Poppins"/>
                <a:sym typeface="Poppins"/>
              </a:rPr>
              <a:t>8. Mobile-First Dark UI</a:t>
            </a:r>
            <a:r>
              <a:rPr lang="en-GB" sz="1100">
                <a:latin typeface="Poppins"/>
                <a:ea typeface="Poppins"/>
                <a:cs typeface="Poppins"/>
                <a:sym typeface="Poppins"/>
              </a:rPr>
              <a:t xml:space="preserve"> - Glassmorphism design with HTML5 Canvas waveforms and responsive layout</a:t>
            </a:r>
          </a:p>
          <a:p>
            <a:pPr indent="0" lvl="0" marL="0" rtl="0" algn="l">
              <a:spcBef>
                <a:spcPts val="0"/>
              </a:spcBef>
              <a:spcAft>
                <a:spcPts val="150"/>
              </a:spcAft>
              <a:buNone/>
            </a:pPr>
            <a:r>
              <a:rPr b="1" lang="en-GB" sz="1100">
                <a:latin typeface="Poppins"/>
                <a:ea typeface="Poppins"/>
                <a:cs typeface="Poppins"/>
                <a:sym typeface="Poppins"/>
              </a:rPr>
              <a:t>9. Sensor Health Monitoring</a:t>
            </a:r>
            <a:r>
              <a:rPr lang="en-GB" sz="1100">
                <a:latin typeface="Poppins"/>
                <a:ea typeface="Poppins"/>
                <a:cs typeface="Poppins"/>
                <a:sym typeface="Poppins"/>
              </a:rPr>
              <a:t xml:space="preserve"> - Uptime tracking, offline detection, and automatic reconnection handling</a:t>
            </a:r>
          </a:p>
          <a:p>
            <a:pPr indent="0" lvl="0" marL="0" rtl="0" algn="l">
              <a:spcBef>
                <a:spcPts val="0"/>
              </a:spcBef>
              <a:spcAft>
                <a:spcPts val="0"/>
              </a:spcAft>
              <a:buNone/>
            </a:pPr>
            <a:r>
              <a:rPr b="1" lang="en-GB" sz="1100">
                <a:latin typeface="Poppins"/>
                <a:ea typeface="Poppins"/>
                <a:cs typeface="Poppins"/>
                <a:sym typeface="Poppins"/>
              </a:rPr>
              <a:t>10. Built-in Demo Mode</a:t>
            </a:r>
            <a:r>
              <a:rPr lang="en-GB" sz="1100">
                <a:latin typeface="Poppins"/>
                <a:ea typeface="Poppins"/>
                <a:cs typeface="Poppins"/>
                <a:sym typeface="Poppins"/>
              </a:rPr>
              <a:t xml:space="preserve"> - Mock data generation for offline demonstrations without hardware</a:t>
            </a:r>
            <a:endParaRPr sz="1100">
              <a:latin typeface="Poppins"/>
              <a:ea typeface="Poppins"/>
              <a:cs typeface="Poppins"/>
              <a:sym typeface="Poppins"/>
            </a:endParaRPr>
          </a:p>
        </p:txBody>
      </p:sp>
      <p:pic>
        <p:nvPicPr>
          <p:cNvPr id="82" name="Google Shape;82;p16" title="AMD.PS.S22.png"/>
          <p:cNvPicPr preferRelativeResize="0"/>
          <p:nvPr/>
        </p:nvPicPr>
        <p:blipFill rotWithShape="1">
          <a:blip r:embed="rId3">
            <a:alphaModFix/>
          </a:blip>
          <a:srcRect b="89082" l="0" r="0" t="0"/>
          <a:stretch/>
        </p:blipFill>
        <p:spPr>
          <a:xfrm>
            <a:off x="0" y="0"/>
            <a:ext cx="9144000" cy="561524"/>
          </a:xfrm>
          <a:prstGeom prst="rect">
            <a:avLst/>
          </a:prstGeom>
          <a:noFill/>
          <a:ln>
            <a:noFill/>
          </a:ln>
        </p:spPr>
      </p:pic>
      <p:pic>
        <p:nvPicPr>
          <p:cNvPr id="83" name="Google Shape;83;p16" title="AMD.PS.S11.png"/>
          <p:cNvPicPr preferRelativeResize="0"/>
          <p:nvPr/>
        </p:nvPicPr>
        <p:blipFill rotWithShape="1">
          <a:blip r:embed="rId4">
            <a:alphaModFix/>
          </a:blip>
          <a:srcRect b="0" l="0" r="0" t="98295"/>
          <a:stretch/>
        </p:blipFill>
        <p:spPr>
          <a:xfrm>
            <a:off x="0" y="5055825"/>
            <a:ext cx="9144000" cy="876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ctrTitle"/>
          </p:nvPr>
        </p:nvSpPr>
        <p:spPr>
          <a:xfrm>
            <a:off x="311700" y="744575"/>
            <a:ext cx="8520600" cy="447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990"/>
              <a:buNone/>
            </a:pPr>
            <a:r>
              <a:rPr b="1" lang="en-GB" sz="1620">
                <a:latin typeface="Poppins"/>
                <a:ea typeface="Poppins"/>
                <a:cs typeface="Poppins"/>
                <a:sym typeface="Poppins"/>
              </a:rPr>
              <a:t>Process flow diagram or Use-case diagram</a:t>
            </a:r>
            <a:endParaRPr b="1" sz="1620">
              <a:latin typeface="Poppins"/>
              <a:ea typeface="Poppins"/>
              <a:cs typeface="Poppins"/>
              <a:sym typeface="Poppins"/>
            </a:endParaRPr>
          </a:p>
        </p:txBody>
      </p:sp>
      <p:sp>
        <p:nvSpPr>
          <p:cNvPr id="89" name="Google Shape;89;p17"/>
          <p:cNvSpPr txBox="1"/>
          <p:nvPr>
            <p:ph idx="1" type="subTitle"/>
          </p:nvPr>
        </p:nvSpPr>
        <p:spPr>
          <a:xfrm>
            <a:off x="311700" y="1249775"/>
            <a:ext cx="8520600" cy="3525000"/>
          </a:xfrm>
          <a:prstGeom prst="rect">
            <a:avLst/>
          </a:prstGeom>
        </p:spPr>
        <p:txBody>
          <a:bodyPr anchorCtr="0" anchor="t" bIns="91425" lIns="91425" spcFirstLastPara="1" rIns="91425" wrap="square" tIns="91425">
            <a:normAutofit/>
          </a:bodyPr>
          <a:lstStyle/>
          <a:p>
            <a:pPr indent="0" lvl="0" marL="0" rtl="0" algn="l">
              <a:spcBef>
                <a:spcPts val="0"/>
              </a:spcBef>
              <a:spcAft>
                <a:spcPts val="300"/>
              </a:spcAft>
              <a:buNone/>
            </a:pPr>
            <a:r>
              <a:rPr b="1" lang="en-GB" sz="1200">
                <a:latin typeface="Poppins"/>
                <a:ea typeface="Poppins"/>
                <a:cs typeface="Poppins"/>
                <a:sym typeface="Poppins"/>
              </a:rPr>
              <a:t>STEP 1: Sensor Data Acquisition</a:t>
            </a:r>
          </a:p>
          <a:p>
            <a:pPr indent="0" lvl="0" marL="0" rtl="0" algn="l">
              <a:spcBef>
                <a:spcPts val="0"/>
              </a:spcBef>
              <a:spcAft>
                <a:spcPts val="200"/>
              </a:spcAft>
              <a:buNone/>
            </a:pPr>
            <a:r>
              <a:rPr lang="en-GB" sz="1100">
                <a:latin typeface="Poppins"/>
                <a:ea typeface="Poppins"/>
                <a:cs typeface="Poppins"/>
                <a:sym typeface="Poppins"/>
              </a:rPr>
              <a:t>ESP32 reads MPU6050 (acceleration), MQ-Series (gas PPM), DHT11 (temp/humidity) every 200ms. Evaluates alert conditions and exposes JSON API at /api/data over WiFi Access Point.</a:t>
            </a:r>
          </a:p>
          <a:p>
            <a:pPr indent="0" lvl="0" marL="0" rtl="0" algn="l">
              <a:spcBef>
                <a:spcPts val="0"/>
              </a:spcBef>
              <a:spcAft>
                <a:spcPts val="300"/>
              </a:spcAft>
              <a:buNone/>
            </a:pPr>
            <a:r>
              <a:rPr b="1" lang="en-GB" sz="1200">
                <a:latin typeface="Poppins"/>
                <a:ea typeface="Poppins"/>
                <a:cs typeface="Poppins"/>
                <a:sym typeface="Poppins"/>
              </a:rPr>
              <a:t>STEP 2: Gateway Bridge</a:t>
            </a:r>
          </a:p>
          <a:p>
            <a:pPr indent="0" lvl="0" marL="0" rtl="0" algn="l">
              <a:spcBef>
                <a:spcPts val="0"/>
              </a:spcBef>
              <a:spcAft>
                <a:spcPts val="200"/>
              </a:spcAft>
              <a:buNone/>
            </a:pPr>
            <a:r>
              <a:rPr lang="en-GB" sz="1100">
                <a:latin typeface="Poppins"/>
                <a:ea typeface="Poppins"/>
                <a:cs typeface="Poppins"/>
                <a:sym typeface="Poppins"/>
              </a:rPr>
              <a:t>Python gateway polls ESP32 every 1 second via HTTP GET. Enriches payload with zone ID, zone name, and gateway timestamp. Forwards via HTTP POST to Next.js /api/ingest endpoint. Handles offline detection after 10 consecutive failures.</a:t>
            </a:r>
          </a:p>
          <a:p>
            <a:pPr indent="0" lvl="0" marL="0" rtl="0" algn="l">
              <a:spcBef>
                <a:spcPts val="0"/>
              </a:spcBef>
              <a:spcAft>
                <a:spcPts val="300"/>
              </a:spcAft>
              <a:buNone/>
            </a:pPr>
            <a:r>
              <a:rPr b="1" lang="en-GB" sz="1200">
                <a:latin typeface="Poppins"/>
                <a:ea typeface="Poppins"/>
                <a:cs typeface="Poppins"/>
                <a:sym typeface="Poppins"/>
              </a:rPr>
              <a:t>STEP 3: Backend Processing</a:t>
            </a:r>
          </a:p>
          <a:p>
            <a:pPr indent="0" lvl="0" marL="0" rtl="0" algn="l">
              <a:spcBef>
                <a:spcPts val="0"/>
              </a:spcBef>
              <a:spcAft>
                <a:spcPts val="200"/>
              </a:spcAft>
              <a:buNone/>
            </a:pPr>
            <a:r>
              <a:rPr lang="en-GB" sz="1100">
                <a:latin typeface="Poppins"/>
                <a:ea typeface="Poppins"/>
                <a:cs typeface="Poppins"/>
                <a:sym typeface="Poppins"/>
              </a:rPr>
              <a:t>Next.js /api/ingest validates sensor ranges, computes debounced alerts (3 readings to trigger, 5 to clear), calculates temperature trends, and broadcasts processed state to all SSE clients via /api/stream.</a:t>
            </a:r>
          </a:p>
          <a:p>
            <a:pPr indent="0" lvl="0" marL="0" rtl="0" algn="l">
              <a:spcBef>
                <a:spcPts val="0"/>
              </a:spcBef>
              <a:spcAft>
                <a:spcPts val="300"/>
              </a:spcAft>
              <a:buNone/>
            </a:pPr>
            <a:r>
              <a:rPr b="1" lang="en-GB" sz="1200">
                <a:latin typeface="Poppins"/>
                <a:ea typeface="Poppins"/>
                <a:cs typeface="Poppins"/>
                <a:sym typeface="Poppins"/>
              </a:rPr>
              <a:t>STEP 4: Real-time Dashboard</a:t>
            </a:r>
          </a:p>
          <a:p>
            <a:pPr indent="0" lvl="0" marL="0" rtl="0" algn="l">
              <a:spcBef>
                <a:spcPts val="0"/>
              </a:spcBef>
              <a:spcAft>
                <a:spcPts val="0"/>
              </a:spcAft>
              <a:buNone/>
            </a:pPr>
            <a:r>
              <a:rPr lang="en-GB" sz="1100">
                <a:latin typeface="Poppins"/>
                <a:ea typeface="Poppins"/>
                <a:cs typeface="Poppins"/>
                <a:sym typeface="Poppins"/>
              </a:rPr>
              <a:t>React 19 frontend receives SSE updates, renders live seismic waveforms on HTML5 Canvas, gas bar charts, temperature trends, humidity gauges, zone status, and alert history. Falls back to demo mode with simulated data when hardware is unavailable.</a:t>
            </a:r>
            <a:endParaRPr sz="1100">
              <a:latin typeface="Poppins"/>
              <a:ea typeface="Poppins"/>
              <a:cs typeface="Poppins"/>
              <a:sym typeface="Poppins"/>
            </a:endParaRPr>
          </a:p>
        </p:txBody>
      </p:sp>
      <p:pic>
        <p:nvPicPr>
          <p:cNvPr id="90" name="Google Shape;90;p17" title="AMD.PS.S22.png"/>
          <p:cNvPicPr preferRelativeResize="0"/>
          <p:nvPr/>
        </p:nvPicPr>
        <p:blipFill rotWithShape="1">
          <a:blip r:embed="rId3">
            <a:alphaModFix/>
          </a:blip>
          <a:srcRect b="89082" l="0" r="0" t="0"/>
          <a:stretch/>
        </p:blipFill>
        <p:spPr>
          <a:xfrm>
            <a:off x="0" y="0"/>
            <a:ext cx="9144000" cy="561524"/>
          </a:xfrm>
          <a:prstGeom prst="rect">
            <a:avLst/>
          </a:prstGeom>
          <a:noFill/>
          <a:ln>
            <a:noFill/>
          </a:ln>
        </p:spPr>
      </p:pic>
      <p:pic>
        <p:nvPicPr>
          <p:cNvPr id="91" name="Google Shape;91;p17" title="AMD.PS.S11.png"/>
          <p:cNvPicPr preferRelativeResize="0"/>
          <p:nvPr/>
        </p:nvPicPr>
        <p:blipFill rotWithShape="1">
          <a:blip r:embed="rId4">
            <a:alphaModFix/>
          </a:blip>
          <a:srcRect b="0" l="0" r="0" t="98295"/>
          <a:stretch/>
        </p:blipFill>
        <p:spPr>
          <a:xfrm>
            <a:off x="0" y="5055825"/>
            <a:ext cx="9144000" cy="876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ctrTitle"/>
          </p:nvPr>
        </p:nvSpPr>
        <p:spPr>
          <a:xfrm>
            <a:off x="311700" y="744575"/>
            <a:ext cx="8520600" cy="447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990"/>
              <a:buNone/>
            </a:pPr>
            <a:r>
              <a:rPr b="1" lang="en-GB" sz="1620">
                <a:latin typeface="Poppins"/>
                <a:ea typeface="Poppins"/>
                <a:cs typeface="Poppins"/>
                <a:sym typeface="Poppins"/>
              </a:rPr>
              <a:t>Wireframes/Mock diagrams of the proposed solution (optional)</a:t>
            </a:r>
            <a:endParaRPr b="1" sz="1620">
              <a:latin typeface="Poppins"/>
              <a:ea typeface="Poppins"/>
              <a:cs typeface="Poppins"/>
              <a:sym typeface="Poppins"/>
            </a:endParaRPr>
          </a:p>
        </p:txBody>
      </p:sp>
      <p:sp>
        <p:nvSpPr>
          <p:cNvPr id="97" name="Google Shape;97;p18"/>
          <p:cNvSpPr txBox="1"/>
          <p:nvPr>
            <p:ph idx="1" type="subTitle"/>
          </p:nvPr>
        </p:nvSpPr>
        <p:spPr>
          <a:xfrm>
            <a:off x="311700" y="1249775"/>
            <a:ext cx="8520600" cy="3525000"/>
          </a:xfrm>
          <a:prstGeom prst="rect">
            <a:avLst/>
          </a:prstGeom>
        </p:spPr>
        <p:txBody>
          <a:bodyPr anchorCtr="0" anchor="t" bIns="91425" lIns="91425" spcFirstLastPara="1" rIns="91425" wrap="square" tIns="91425">
            <a:normAutofit/>
          </a:bodyPr>
          <a:lstStyle/>
          <a:p>
            <a:pPr indent="0" lvl="0" marL="0" rtl="0" algn="l">
              <a:spcBef>
                <a:spcPts val="0"/>
              </a:spcBef>
              <a:spcAft>
                <a:spcPts val="300"/>
              </a:spcAft>
              <a:buNone/>
            </a:pPr>
            <a:r>
              <a:rPr lang="en-GB" sz="1300">
                <a:latin typeface="Poppins"/>
                <a:ea typeface="Poppins"/>
                <a:cs typeface="Poppins"/>
                <a:sym typeface="Poppins"/>
              </a:rPr>
              <a:t>The SafetyHub dashboard features a mobile-first dark glassmorphism UI with the following screens:</a:t>
            </a:r>
          </a:p>
          <a:p>
            <a:pPr indent="0" lvl="0" marL="0" rtl="0" algn="l">
              <a:spcBef>
                <a:spcPts val="0"/>
              </a:spcBef>
              <a:spcAft>
                <a:spcPts val="200"/>
              </a:spcAft>
              <a:buNone/>
            </a:pPr>
            <a:r>
              <a:rPr b="1" lang="en-GB" sz="1200">
                <a:latin typeface="Poppins"/>
                <a:ea typeface="Poppins"/>
                <a:cs typeface="Poppins"/>
                <a:sym typeface="Poppins"/>
              </a:rPr>
              <a:t>Home Dashboard:</a:t>
            </a:r>
            <a:r>
              <a:rPr lang="en-GB" sz="1200">
                <a:latin typeface="Poppins"/>
                <a:ea typeface="Poppins"/>
                <a:cs typeface="Poppins"/>
                <a:sym typeface="Poppins"/>
              </a:rPr>
              <a:t xml:space="preserve"> Status banner (Monitoring Active / Alert), Seismic card with live waveform, Gas level card with bar chart, Temperature card with trend indicator, Humidity card, Zone status with sensor connectivity</a:t>
            </a:r>
          </a:p>
          <a:p>
            <a:pPr indent="0" lvl="0" marL="0" rtl="0" algn="l">
              <a:spcBef>
                <a:spcPts val="0"/>
              </a:spcBef>
              <a:spcAft>
                <a:spcPts val="200"/>
              </a:spcAft>
              <a:buNone/>
            </a:pPr>
            <a:r>
              <a:rPr b="1" lang="en-GB" sz="1200">
                <a:latin typeface="Poppins"/>
                <a:ea typeface="Poppins"/>
                <a:cs typeface="Poppins"/>
                <a:sym typeface="Poppins"/>
              </a:rPr>
              <a:t>Campus Map:</a:t>
            </a:r>
            <a:r>
              <a:rPr lang="en-GB" sz="1200">
                <a:latin typeface="Poppins"/>
                <a:ea typeface="Poppins"/>
                <a:cs typeface="Poppins"/>
                <a:sym typeface="Poppins"/>
              </a:rPr>
              <a:t xml:space="preserve"> Grid-based campus layout with active sensor zone markers and real-time monitoring indicators</a:t>
            </a:r>
          </a:p>
          <a:p>
            <a:pPr indent="0" lvl="0" marL="0" rtl="0" algn="l">
              <a:spcBef>
                <a:spcPts val="0"/>
              </a:spcBef>
              <a:spcAft>
                <a:spcPts val="200"/>
              </a:spcAft>
              <a:buNone/>
            </a:pPr>
            <a:r>
              <a:rPr b="1" lang="en-GB" sz="1200">
                <a:latin typeface="Poppins"/>
                <a:ea typeface="Poppins"/>
                <a:cs typeface="Poppins"/>
                <a:sym typeface="Poppins"/>
              </a:rPr>
              <a:t>Alert History:</a:t>
            </a:r>
            <a:r>
              <a:rPr lang="en-GB" sz="1200">
                <a:latin typeface="Poppins"/>
                <a:ea typeface="Poppins"/>
                <a:cs typeface="Poppins"/>
                <a:sym typeface="Poppins"/>
              </a:rPr>
              <a:t xml:space="preserve"> Scrollable log of all triggered alerts with severity badges, zone attribution, and timestamps</a:t>
            </a:r>
          </a:p>
          <a:p>
            <a:pPr indent="0" lvl="0" marL="0" rtl="0" algn="l">
              <a:spcBef>
                <a:spcPts val="0"/>
              </a:spcBef>
              <a:spcAft>
                <a:spcPts val="0"/>
              </a:spcAft>
              <a:buNone/>
            </a:pPr>
            <a:r>
              <a:rPr b="1" lang="en-GB" sz="1200">
                <a:latin typeface="Poppins"/>
                <a:ea typeface="Poppins"/>
                <a:cs typeface="Poppins"/>
                <a:sym typeface="Poppins"/>
              </a:rPr>
              <a:t>Settings:</a:t>
            </a:r>
            <a:r>
              <a:rPr lang="en-GB" sz="1200">
                <a:latin typeface="Poppins"/>
                <a:ea typeface="Poppins"/>
                <a:cs typeface="Poppins"/>
                <a:sym typeface="Poppins"/>
              </a:rPr>
              <a:t xml:space="preserve"> System info (version, zone, refresh rate), alert thresholds display, and sensor hardware inventory (MPU6050, MQ-Series, DHT11, ESP32)</a:t>
            </a:r>
            <a:endParaRPr sz="1200">
              <a:latin typeface="Poppins"/>
              <a:ea typeface="Poppins"/>
              <a:cs typeface="Poppins"/>
              <a:sym typeface="Poppins"/>
            </a:endParaRPr>
          </a:p>
        </p:txBody>
      </p:sp>
      <p:pic>
        <p:nvPicPr>
          <p:cNvPr id="98" name="Google Shape;98;p18" title="AMD.PS.S22.png"/>
          <p:cNvPicPr preferRelativeResize="0"/>
          <p:nvPr/>
        </p:nvPicPr>
        <p:blipFill rotWithShape="1">
          <a:blip r:embed="rId3">
            <a:alphaModFix/>
          </a:blip>
          <a:srcRect b="89082" l="0" r="0" t="0"/>
          <a:stretch/>
        </p:blipFill>
        <p:spPr>
          <a:xfrm>
            <a:off x="0" y="0"/>
            <a:ext cx="9144000" cy="561524"/>
          </a:xfrm>
          <a:prstGeom prst="rect">
            <a:avLst/>
          </a:prstGeom>
          <a:noFill/>
          <a:ln>
            <a:noFill/>
          </a:ln>
        </p:spPr>
      </p:pic>
      <p:pic>
        <p:nvPicPr>
          <p:cNvPr id="99" name="Google Shape;99;p18" title="AMD.PS.S11.png"/>
          <p:cNvPicPr preferRelativeResize="0"/>
          <p:nvPr/>
        </p:nvPicPr>
        <p:blipFill rotWithShape="1">
          <a:blip r:embed="rId4">
            <a:alphaModFix/>
          </a:blip>
          <a:srcRect b="0" l="0" r="0" t="98295"/>
          <a:stretch/>
        </p:blipFill>
        <p:spPr>
          <a:xfrm>
            <a:off x="0" y="5055825"/>
            <a:ext cx="9144000" cy="876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ctrTitle"/>
          </p:nvPr>
        </p:nvSpPr>
        <p:spPr>
          <a:xfrm>
            <a:off x="311700" y="744575"/>
            <a:ext cx="8520600" cy="447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990"/>
              <a:buNone/>
            </a:pPr>
            <a:r>
              <a:rPr b="1" lang="en-GB" sz="1620">
                <a:latin typeface="Poppins"/>
                <a:ea typeface="Poppins"/>
                <a:cs typeface="Poppins"/>
                <a:sym typeface="Poppins"/>
              </a:rPr>
              <a:t>Architecture diagram of the proposed solution</a:t>
            </a:r>
            <a:endParaRPr b="1" sz="1620">
              <a:latin typeface="Poppins"/>
              <a:ea typeface="Poppins"/>
              <a:cs typeface="Poppins"/>
              <a:sym typeface="Poppins"/>
            </a:endParaRPr>
          </a:p>
        </p:txBody>
      </p:sp>
      <p:sp>
        <p:nvSpPr>
          <p:cNvPr id="105" name="Google Shape;105;p19"/>
          <p:cNvSpPr txBox="1"/>
          <p:nvPr>
            <p:ph idx="1" type="subTitle"/>
          </p:nvPr>
        </p:nvSpPr>
        <p:spPr>
          <a:xfrm>
            <a:off x="311700" y="1249775"/>
            <a:ext cx="8520600" cy="3525000"/>
          </a:xfrm>
          <a:prstGeom prst="rect">
            <a:avLst/>
          </a:prstGeom>
        </p:spPr>
        <p:txBody>
          <a:bodyPr anchorCtr="0" anchor="t" bIns="91425" lIns="91425" spcFirstLastPara="1" rIns="91425" wrap="square" tIns="91425">
            <a:normAutofit/>
          </a:bodyPr>
          <a:lstStyle/>
          <a:p>
            <a:pPr indent="0" lvl="0" marL="0" rtl="0" algn="l">
              <a:spcBef>
                <a:spcPts val="0"/>
              </a:spcBef>
              <a:spcAft>
                <a:spcPts val="300"/>
              </a:spcAft>
              <a:buNone/>
            </a:pPr>
            <a:r>
              <a:rPr b="1" lang="en-GB" sz="1300">
                <a:latin typeface="Poppins"/>
                <a:ea typeface="Poppins"/>
                <a:cs typeface="Poppins"/>
                <a:sym typeface="Poppins"/>
              </a:rPr>
              <a:t>3-Layer IoT Architecture</a:t>
            </a:r>
          </a:p>
          <a:p>
            <a:pPr indent="0" lvl="0" marL="0" rtl="0" algn="l">
              <a:spcBef>
                <a:spcPts val="0"/>
              </a:spcBef>
              <a:spcAft>
                <a:spcPts val="200"/>
              </a:spcAft>
              <a:buNone/>
            </a:pPr>
            <a:r>
              <a:rPr b="1" lang="en-GB" sz="1200">
                <a:latin typeface="Poppins"/>
                <a:ea typeface="Poppins"/>
                <a:cs typeface="Poppins"/>
                <a:sym typeface="Poppins"/>
              </a:rPr>
              <a:t>Layer 1 - Hardware (Sensor Node):</a:t>
            </a:r>
            <a:r>
              <a:rPr lang="en-GB" sz="1200">
                <a:latin typeface="Poppins"/>
                <a:ea typeface="Poppins"/>
                <a:cs typeface="Poppins"/>
                <a:sym typeface="Poppins"/>
              </a:rPr>
              <a:t xml:space="preserve"> ESP32 DevKit V1 running Arduino firmware. Reads MPU6050 (I2C, 8G range, 21Hz filter), MQ-Series (ADC pin 34), DHT11 (GPIO 4). Exposes JSON REST API at /api/data over WiFi AP. Onboard buzzer for local alerts. Sampling rate: 5Hz (200ms loop).</a:t>
            </a:r>
          </a:p>
          <a:p>
            <a:pPr indent="0" lvl="0" marL="0" rtl="0" algn="l">
              <a:spcBef>
                <a:spcPts val="0"/>
              </a:spcBef>
              <a:spcAft>
                <a:spcPts val="200"/>
              </a:spcAft>
              <a:buNone/>
            </a:pPr>
            <a:r>
              <a:rPr b="1" lang="en-GB" sz="1200">
                <a:latin typeface="Poppins"/>
                <a:ea typeface="Poppins"/>
                <a:cs typeface="Poppins"/>
                <a:sym typeface="Poppins"/>
              </a:rPr>
              <a:t>Layer 2 - Gateway (Bridge Service):</a:t>
            </a:r>
            <a:r>
              <a:rPr lang="en-GB" sz="1200">
                <a:latin typeface="Poppins"/>
                <a:ea typeface="Poppins"/>
                <a:cs typeface="Poppins"/>
                <a:sym typeface="Poppins"/>
              </a:rPr>
              <a:t xml:space="preserve"> Python 3 stdlib-only service. Polls ESP32 at 1Hz, enriches with zone metadata and timestamps. Forwards to backend via HTTP POST with optional API key auth. Handles graceful shutdown (SIGINT/SIGTERM), consecutive failure tracking, and offline status notification.</a:t>
            </a:r>
          </a:p>
          <a:p>
            <a:pPr indent="0" lvl="0" marL="0" rtl="0" algn="l">
              <a:spcBef>
                <a:spcPts val="0"/>
              </a:spcBef>
              <a:spcAft>
                <a:spcPts val="0"/>
              </a:spcAft>
              <a:buNone/>
            </a:pPr>
            <a:r>
              <a:rPr b="1" lang="en-GB" sz="1200">
                <a:latin typeface="Poppins"/>
                <a:ea typeface="Poppins"/>
                <a:cs typeface="Poppins"/>
                <a:sym typeface="Poppins"/>
              </a:rPr>
              <a:t>Layer 3 - Application (Dashboard):</a:t>
            </a:r>
            <a:r>
              <a:rPr lang="en-GB" sz="1200">
                <a:latin typeface="Poppins"/>
                <a:ea typeface="Poppins"/>
                <a:cs typeface="Poppins"/>
                <a:sym typeface="Poppins"/>
              </a:rPr>
              <a:t xml:space="preserve"> Next.js 16 + React 19 + TypeScript. API routes: /api/ingest (POST, validates + debounces), /api/stream (SSE broadcast), /api/health. In-memory sensor store with SSE client management. Frontend: real-time Canvas waveforms, responsive card layout, 4-tab navigation (Home, Map, Alerts, Settings).</a:t>
            </a:r>
            <a:endParaRPr sz="1200">
              <a:latin typeface="Poppins"/>
              <a:ea typeface="Poppins"/>
              <a:cs typeface="Poppins"/>
              <a:sym typeface="Poppins"/>
            </a:endParaRPr>
          </a:p>
        </p:txBody>
      </p:sp>
      <p:pic>
        <p:nvPicPr>
          <p:cNvPr id="106" name="Google Shape;106;p19" title="AMD.PS.S22.png"/>
          <p:cNvPicPr preferRelativeResize="0"/>
          <p:nvPr/>
        </p:nvPicPr>
        <p:blipFill rotWithShape="1">
          <a:blip r:embed="rId3">
            <a:alphaModFix/>
          </a:blip>
          <a:srcRect b="89082" l="0" r="0" t="0"/>
          <a:stretch/>
        </p:blipFill>
        <p:spPr>
          <a:xfrm>
            <a:off x="0" y="0"/>
            <a:ext cx="9144000" cy="561524"/>
          </a:xfrm>
          <a:prstGeom prst="rect">
            <a:avLst/>
          </a:prstGeom>
          <a:noFill/>
          <a:ln>
            <a:noFill/>
          </a:ln>
        </p:spPr>
      </p:pic>
      <p:pic>
        <p:nvPicPr>
          <p:cNvPr id="107" name="Google Shape;107;p19" title="AMD.PS.S11.png"/>
          <p:cNvPicPr preferRelativeResize="0"/>
          <p:nvPr/>
        </p:nvPicPr>
        <p:blipFill rotWithShape="1">
          <a:blip r:embed="rId4">
            <a:alphaModFix/>
          </a:blip>
          <a:srcRect b="0" l="0" r="0" t="98295"/>
          <a:stretch/>
        </p:blipFill>
        <p:spPr>
          <a:xfrm>
            <a:off x="0" y="5055825"/>
            <a:ext cx="9144000" cy="876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type="ctrTitle"/>
          </p:nvPr>
        </p:nvSpPr>
        <p:spPr>
          <a:xfrm>
            <a:off x="311700" y="744575"/>
            <a:ext cx="8520600" cy="447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990"/>
              <a:buNone/>
            </a:pPr>
            <a:r>
              <a:rPr b="1" lang="en-GB" sz="1620">
                <a:latin typeface="Poppins"/>
                <a:ea typeface="Poppins"/>
                <a:cs typeface="Poppins"/>
                <a:sym typeface="Poppins"/>
              </a:rPr>
              <a:t>Technologies to be used in the solution</a:t>
            </a:r>
            <a:endParaRPr b="1" sz="1620">
              <a:latin typeface="Poppins"/>
              <a:ea typeface="Poppins"/>
              <a:cs typeface="Poppins"/>
              <a:sym typeface="Poppins"/>
            </a:endParaRPr>
          </a:p>
        </p:txBody>
      </p:sp>
      <p:sp>
        <p:nvSpPr>
          <p:cNvPr id="113" name="Google Shape;113;p20"/>
          <p:cNvSpPr txBox="1"/>
          <p:nvPr>
            <p:ph idx="1" type="subTitle"/>
          </p:nvPr>
        </p:nvSpPr>
        <p:spPr>
          <a:xfrm>
            <a:off x="311700" y="1249775"/>
            <a:ext cx="8520600" cy="3525000"/>
          </a:xfrm>
          <a:prstGeom prst="rect">
            <a:avLst/>
          </a:prstGeom>
        </p:spPr>
        <p:txBody>
          <a:bodyPr anchorCtr="0" anchor="t" bIns="91425" lIns="91425" spcFirstLastPara="1" rIns="91425" wrap="square" tIns="91425">
            <a:normAutofit/>
          </a:bodyPr>
          <a:lstStyle/>
          <a:p>
            <a:pPr indent="0" lvl="0" marL="0" rtl="0" algn="l">
              <a:spcBef>
                <a:spcPts val="0"/>
              </a:spcBef>
              <a:spcAft>
                <a:spcPts val="200"/>
              </a:spcAft>
              <a:buNone/>
            </a:pPr>
            <a:r>
              <a:rPr b="1" lang="en-GB" sz="1200">
                <a:latin typeface="Poppins"/>
                <a:ea typeface="Poppins"/>
                <a:cs typeface="Poppins"/>
                <a:sym typeface="Poppins"/>
              </a:rPr>
              <a:t>Hardware:</a:t>
            </a:r>
            <a:r>
              <a:rPr lang="en-GB" sz="1200">
                <a:latin typeface="Poppins"/>
                <a:ea typeface="Poppins"/>
                <a:cs typeface="Poppins"/>
                <a:sym typeface="Poppins"/>
              </a:rPr>
              <a:t xml:space="preserve"> ESP32 DevKit V1 (Dual-core 240MHz, WiFi/BT), MPU6050 6-axis Accelerometer/Gyroscope, MQ-Series Gas Sensor (analog), DHT11 Temperature/Humidity Sensor, Piezo Buzzer</a:t>
            </a:r>
          </a:p>
          <a:p>
            <a:pPr indent="0" lvl="0" marL="0" rtl="0" algn="l">
              <a:spcBef>
                <a:spcPts val="0"/>
              </a:spcBef>
              <a:spcAft>
                <a:spcPts val="200"/>
              </a:spcAft>
              <a:buNone/>
            </a:pPr>
            <a:r>
              <a:rPr b="1" lang="en-GB" sz="1200">
                <a:latin typeface="Poppins"/>
                <a:ea typeface="Poppins"/>
                <a:cs typeface="Poppins"/>
                <a:sym typeface="Poppins"/>
              </a:rPr>
              <a:t>Firmware:</a:t>
            </a:r>
            <a:r>
              <a:rPr lang="en-GB" sz="1200">
                <a:latin typeface="Poppins"/>
                <a:ea typeface="Poppins"/>
                <a:cs typeface="Poppins"/>
                <a:sym typeface="Poppins"/>
              </a:rPr>
              <a:t xml:space="preserve"> Arduino C++ with WiFi.h, WebServer.h, Adafruit MPU6050 library, DHT library. I2C communication on GPIO 21/22.</a:t>
            </a:r>
          </a:p>
          <a:p>
            <a:pPr indent="0" lvl="0" marL="0" rtl="0" algn="l">
              <a:spcBef>
                <a:spcPts val="0"/>
              </a:spcBef>
              <a:spcAft>
                <a:spcPts val="200"/>
              </a:spcAft>
              <a:buNone/>
            </a:pPr>
            <a:r>
              <a:rPr b="1" lang="en-GB" sz="1200">
                <a:latin typeface="Poppins"/>
                <a:ea typeface="Poppins"/>
                <a:cs typeface="Poppins"/>
                <a:sym typeface="Poppins"/>
              </a:rPr>
              <a:t>Gateway:</a:t>
            </a:r>
            <a:r>
              <a:rPr lang="en-GB" sz="1200">
                <a:latin typeface="Poppins"/>
                <a:ea typeface="Poppins"/>
                <a:cs typeface="Poppins"/>
                <a:sym typeface="Poppins"/>
              </a:rPr>
              <a:t xml:space="preserve"> Python 3 (zero dependencies - stdlib only: urllib, json, logging, signal)</a:t>
            </a:r>
          </a:p>
          <a:p>
            <a:pPr indent="0" lvl="0" marL="0" rtl="0" algn="l">
              <a:spcBef>
                <a:spcPts val="0"/>
              </a:spcBef>
              <a:spcAft>
                <a:spcPts val="200"/>
              </a:spcAft>
              <a:buNone/>
            </a:pPr>
            <a:r>
              <a:rPr b="1" lang="en-GB" sz="1200">
                <a:latin typeface="Poppins"/>
                <a:ea typeface="Poppins"/>
                <a:cs typeface="Poppins"/>
                <a:sym typeface="Poppins"/>
              </a:rPr>
              <a:t>Backend:</a:t>
            </a:r>
            <a:r>
              <a:rPr lang="en-GB" sz="1200">
                <a:latin typeface="Poppins"/>
                <a:ea typeface="Poppins"/>
                <a:cs typeface="Poppins"/>
                <a:sym typeface="Poppins"/>
              </a:rPr>
              <a:t xml:space="preserve"> Next.js 16.1.6, React 19.2.3, TypeScript 5, Server-Sent Events (SSE) for real-time streaming</a:t>
            </a:r>
          </a:p>
          <a:p>
            <a:pPr indent="0" lvl="0" marL="0" rtl="0" algn="l">
              <a:spcBef>
                <a:spcPts val="0"/>
              </a:spcBef>
              <a:spcAft>
                <a:spcPts val="200"/>
              </a:spcAft>
              <a:buNone/>
            </a:pPr>
            <a:r>
              <a:rPr b="1" lang="en-GB" sz="1200">
                <a:latin typeface="Poppins"/>
                <a:ea typeface="Poppins"/>
                <a:cs typeface="Poppins"/>
                <a:sym typeface="Poppins"/>
              </a:rPr>
              <a:t>Frontend:</a:t>
            </a:r>
            <a:r>
              <a:rPr lang="en-GB" sz="1200">
                <a:latin typeface="Poppins"/>
                <a:ea typeface="Poppins"/>
                <a:cs typeface="Poppins"/>
                <a:sym typeface="Poppins"/>
              </a:rPr>
              <a:t xml:space="preserve"> Tailwind CSS 4, HTML5 Canvas API (real-time waveform rendering), Responsive mobile-first design</a:t>
            </a:r>
          </a:p>
          <a:p>
            <a:pPr indent="0" lvl="0" marL="0" rtl="0" algn="l">
              <a:spcBef>
                <a:spcPts val="0"/>
              </a:spcBef>
              <a:spcAft>
                <a:spcPts val="0"/>
              </a:spcAft>
              <a:buNone/>
            </a:pPr>
            <a:r>
              <a:rPr b="1" lang="en-GB" sz="1200">
                <a:latin typeface="Poppins"/>
                <a:ea typeface="Poppins"/>
                <a:cs typeface="Poppins"/>
                <a:sym typeface="Poppins"/>
              </a:rPr>
              <a:t>Protocols:</a:t>
            </a:r>
            <a:r>
              <a:rPr lang="en-GB" sz="1200">
                <a:latin typeface="Poppins"/>
                <a:ea typeface="Poppins"/>
                <a:cs typeface="Poppins"/>
                <a:sym typeface="Poppins"/>
              </a:rPr>
              <a:t xml:space="preserve"> HTTP REST API (JSON), Server-Sent Events (SSE), WiFi 802.11 b/g/n (AP mode), I2C (sensor bus)</a:t>
            </a:r>
            <a:endParaRPr sz="1200">
              <a:latin typeface="Poppins"/>
              <a:ea typeface="Poppins"/>
              <a:cs typeface="Poppins"/>
              <a:sym typeface="Poppins"/>
            </a:endParaRPr>
          </a:p>
        </p:txBody>
      </p:sp>
      <p:pic>
        <p:nvPicPr>
          <p:cNvPr id="114" name="Google Shape;114;p20" title="AMD.PS.S22.png"/>
          <p:cNvPicPr preferRelativeResize="0"/>
          <p:nvPr/>
        </p:nvPicPr>
        <p:blipFill rotWithShape="1">
          <a:blip r:embed="rId3">
            <a:alphaModFix/>
          </a:blip>
          <a:srcRect b="89082" l="0" r="0" t="0"/>
          <a:stretch/>
        </p:blipFill>
        <p:spPr>
          <a:xfrm>
            <a:off x="0" y="0"/>
            <a:ext cx="9144000" cy="561524"/>
          </a:xfrm>
          <a:prstGeom prst="rect">
            <a:avLst/>
          </a:prstGeom>
          <a:noFill/>
          <a:ln>
            <a:noFill/>
          </a:ln>
        </p:spPr>
      </p:pic>
      <p:pic>
        <p:nvPicPr>
          <p:cNvPr id="115" name="Google Shape;115;p20" title="AMD.PS.S11.png"/>
          <p:cNvPicPr preferRelativeResize="0"/>
          <p:nvPr/>
        </p:nvPicPr>
        <p:blipFill rotWithShape="1">
          <a:blip r:embed="rId4">
            <a:alphaModFix/>
          </a:blip>
          <a:srcRect b="0" l="0" r="0" t="98295"/>
          <a:stretch/>
        </p:blipFill>
        <p:spPr>
          <a:xfrm>
            <a:off x="0" y="5055825"/>
            <a:ext cx="9144000" cy="876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ctrTitle"/>
          </p:nvPr>
        </p:nvSpPr>
        <p:spPr>
          <a:xfrm>
            <a:off x="311700" y="744575"/>
            <a:ext cx="8520600" cy="447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990"/>
              <a:buNone/>
            </a:pPr>
            <a:r>
              <a:rPr b="1" lang="en-GB" sz="1620">
                <a:latin typeface="Poppins"/>
                <a:ea typeface="Poppins"/>
                <a:cs typeface="Poppins"/>
                <a:sym typeface="Poppins"/>
              </a:rPr>
              <a:t>Usage of AMD Products/Solutions</a:t>
            </a:r>
            <a:endParaRPr b="1" sz="1620">
              <a:latin typeface="Poppins"/>
              <a:ea typeface="Poppins"/>
              <a:cs typeface="Poppins"/>
              <a:sym typeface="Poppins"/>
            </a:endParaRPr>
          </a:p>
        </p:txBody>
      </p:sp>
      <p:sp>
        <p:nvSpPr>
          <p:cNvPr id="121" name="Google Shape;121;p21"/>
          <p:cNvSpPr txBox="1"/>
          <p:nvPr>
            <p:ph idx="1" type="subTitle"/>
          </p:nvPr>
        </p:nvSpPr>
        <p:spPr>
          <a:xfrm>
            <a:off x="311700" y="1249775"/>
            <a:ext cx="8520600" cy="3525000"/>
          </a:xfrm>
          <a:prstGeom prst="rect">
            <a:avLst/>
          </a:prstGeom>
        </p:spPr>
        <p:txBody>
          <a:bodyPr anchorCtr="0" anchor="t" bIns="91425" lIns="91425" spcFirstLastPara="1" rIns="91425" wrap="square" tIns="91425">
            <a:normAutofit/>
          </a:bodyPr>
          <a:lstStyle/>
          <a:p>
            <a:pPr indent="0" lvl="0" marL="0" rtl="0" algn="l">
              <a:spcBef>
                <a:spcPts val="0"/>
              </a:spcBef>
              <a:spcAft>
                <a:spcPts val="300"/>
              </a:spcAft>
              <a:buNone/>
            </a:pPr>
            <a:r>
              <a:rPr b="1" lang="en-GB" sz="1200">
                <a:latin typeface="Poppins"/>
                <a:ea typeface="Poppins"/>
                <a:cs typeface="Poppins"/>
                <a:sym typeface="Poppins"/>
              </a:rPr>
              <a:t>AMD Ryzen - Edge Server Deployment:</a:t>
            </a:r>
            <a:r>
              <a:rPr lang="en-GB" sz="1200">
                <a:latin typeface="Poppins"/>
                <a:ea typeface="Poppins"/>
                <a:cs typeface="Poppins"/>
                <a:sym typeface="Poppins"/>
              </a:rPr>
              <a:t xml:space="preserve"> The Next.js backend and Python gateway are designed to run on AMD Ryzen-powered edge servers deployed on campus. Ryzen’s multi-threaded performance handles real-time sensor ingestion at 1Hz per zone, SSE broadcasting to hundreds of concurrent dashboard clients, and alert processing with sub-second latency.</a:t>
            </a:r>
          </a:p>
          <a:p>
            <a:pPr indent="0" lvl="0" marL="0" rtl="0" algn="l">
              <a:spcBef>
                <a:spcPts val="0"/>
              </a:spcBef>
              <a:spcAft>
                <a:spcPts val="300"/>
              </a:spcAft>
              <a:buNone/>
            </a:pPr>
            <a:r>
              <a:rPr b="1" lang="en-GB" sz="1200">
                <a:latin typeface="Poppins"/>
                <a:ea typeface="Poppins"/>
                <a:cs typeface="Poppins"/>
                <a:sym typeface="Poppins"/>
              </a:rPr>
              <a:t>AMD EPYC - Scaled Multi-Campus Deployment:</a:t>
            </a:r>
            <a:r>
              <a:rPr lang="en-GB" sz="1200">
                <a:latin typeface="Poppins"/>
                <a:ea typeface="Poppins"/>
                <a:cs typeface="Poppins"/>
                <a:sym typeface="Poppins"/>
              </a:rPr>
              <a:t xml:space="preserve"> For large-scale deployments with 50+ zones across multiple campuses, AMD EPYC processors enable handling thousands of concurrent SSE connections and sensor data streams with minimal latency. EPYC’s high core count and memory bandwidth are ideal for the in-memory sensor store and real-time broadcasting architecture.</a:t>
            </a:r>
          </a:p>
          <a:p>
            <a:pPr indent="0" lvl="0" marL="0" rtl="0" algn="l">
              <a:spcBef>
                <a:spcPts val="0"/>
              </a:spcBef>
              <a:spcAft>
                <a:spcPts val="300"/>
              </a:spcAft>
              <a:buNone/>
            </a:pPr>
            <a:r>
              <a:rPr b="1" lang="en-GB" sz="1200">
                <a:latin typeface="Poppins"/>
                <a:ea typeface="Poppins"/>
                <a:cs typeface="Poppins"/>
                <a:sym typeface="Poppins"/>
              </a:rPr>
              <a:t>AMD Xilinx Adaptive SoC (v2 Roadmap):</a:t>
            </a:r>
            <a:r>
              <a:rPr lang="en-GB" sz="1200">
                <a:latin typeface="Poppins"/>
                <a:ea typeface="Poppins"/>
                <a:cs typeface="Poppins"/>
                <a:sym typeface="Poppins"/>
              </a:rPr>
              <a:t xml:space="preserve"> Our v2 hardware target replaces ESP32 with AMD Xilinx Adaptive SoC for FPGA-accelerated sensor fusion, enabling sub-millisecond hazard detection at the edge node itself.</a:t>
            </a:r>
          </a:p>
          <a:p>
            <a:pPr indent="0" lvl="0" marL="0" rtl="0" algn="l">
              <a:spcBef>
                <a:spcPts val="0"/>
              </a:spcBef>
              <a:spcAft>
                <a:spcPts val="0"/>
              </a:spcAft>
              <a:buNone/>
            </a:pPr>
            <a:r>
              <a:rPr b="1" lang="en-GB" sz="1200">
                <a:latin typeface="Poppins"/>
                <a:ea typeface="Poppins"/>
                <a:cs typeface="Poppins"/>
                <a:sym typeface="Poppins"/>
              </a:rPr>
              <a:t>AMD ROCm (v2 Roadmap):</a:t>
            </a:r>
            <a:r>
              <a:rPr lang="en-GB" sz="1200">
                <a:latin typeface="Poppins"/>
                <a:ea typeface="Poppins"/>
                <a:cs typeface="Poppins"/>
                <a:sym typeface="Poppins"/>
              </a:rPr>
              <a:t xml:space="preserve"> Future AI-based anomaly detection models trained on AMD GPUs via ROCm will learn normal environmental patterns per zone and predict hazards before they reach alert thresholds, enabling proactive rather than reactive safety.</a:t>
            </a:r>
            <a:endParaRPr sz="1200">
              <a:latin typeface="Poppins"/>
              <a:ea typeface="Poppins"/>
              <a:cs typeface="Poppins"/>
              <a:sym typeface="Poppins"/>
            </a:endParaRPr>
          </a:p>
        </p:txBody>
      </p:sp>
      <p:pic>
        <p:nvPicPr>
          <p:cNvPr id="122" name="Google Shape;122;p21" title="AMD.PS.S22.png"/>
          <p:cNvPicPr preferRelativeResize="0"/>
          <p:nvPr/>
        </p:nvPicPr>
        <p:blipFill rotWithShape="1">
          <a:blip r:embed="rId3">
            <a:alphaModFix/>
          </a:blip>
          <a:srcRect b="89082" l="0" r="0" t="0"/>
          <a:stretch/>
        </p:blipFill>
        <p:spPr>
          <a:xfrm>
            <a:off x="0" y="0"/>
            <a:ext cx="9144000" cy="561524"/>
          </a:xfrm>
          <a:prstGeom prst="rect">
            <a:avLst/>
          </a:prstGeom>
          <a:noFill/>
          <a:ln>
            <a:noFill/>
          </a:ln>
        </p:spPr>
      </p:pic>
      <p:pic>
        <p:nvPicPr>
          <p:cNvPr id="123" name="Google Shape;123;p21" title="AMD.PS.S11.png"/>
          <p:cNvPicPr preferRelativeResize="0"/>
          <p:nvPr/>
        </p:nvPicPr>
        <p:blipFill rotWithShape="1">
          <a:blip r:embed="rId4">
            <a:alphaModFix/>
          </a:blip>
          <a:srcRect b="0" l="0" r="0" t="98295"/>
          <a:stretch/>
        </p:blipFill>
        <p:spPr>
          <a:xfrm>
            <a:off x="0" y="5055825"/>
            <a:ext cx="9144000" cy="876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ctrTitle"/>
          </p:nvPr>
        </p:nvSpPr>
        <p:spPr>
          <a:xfrm>
            <a:off x="311700" y="744575"/>
            <a:ext cx="8520600" cy="447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990"/>
              <a:buNone/>
            </a:pPr>
            <a:r>
              <a:rPr b="1" lang="en-GB" sz="1620">
                <a:latin typeface="Poppins"/>
                <a:ea typeface="Poppins"/>
                <a:cs typeface="Poppins"/>
                <a:sym typeface="Poppins"/>
              </a:rPr>
              <a:t>Estimated implementation cost (optional)</a:t>
            </a:r>
            <a:endParaRPr b="1" sz="1620">
              <a:latin typeface="Poppins"/>
              <a:ea typeface="Poppins"/>
              <a:cs typeface="Poppins"/>
              <a:sym typeface="Poppins"/>
            </a:endParaRPr>
          </a:p>
        </p:txBody>
      </p:sp>
      <p:sp>
        <p:nvSpPr>
          <p:cNvPr id="129" name="Google Shape;129;p22"/>
          <p:cNvSpPr txBox="1"/>
          <p:nvPr>
            <p:ph idx="1" type="subTitle"/>
          </p:nvPr>
        </p:nvSpPr>
        <p:spPr>
          <a:xfrm>
            <a:off x="311700" y="1249775"/>
            <a:ext cx="8520600" cy="3525000"/>
          </a:xfrm>
          <a:prstGeom prst="rect">
            <a:avLst/>
          </a:prstGeom>
        </p:spPr>
        <p:txBody>
          <a:bodyPr anchorCtr="0" anchor="t" bIns="91425" lIns="91425" spcFirstLastPara="1" rIns="91425" wrap="square" tIns="91425">
            <a:normAutofit/>
          </a:bodyPr>
          <a:lstStyle/>
          <a:p>
            <a:pPr indent="0" lvl="0" marL="0" rtl="0" algn="l">
              <a:spcBef>
                <a:spcPts val="0"/>
              </a:spcBef>
              <a:spcAft>
                <a:spcPts val="200"/>
              </a:spcAft>
              <a:buNone/>
            </a:pPr>
            <a:r>
              <a:rPr b="1" lang="en-GB" sz="1200">
                <a:latin typeface="Poppins"/>
                <a:ea typeface="Poppins"/>
                <a:cs typeface="Poppins"/>
                <a:sym typeface="Poppins"/>
              </a:rPr>
              <a:t>Per-Zone Hardware Cost:</a:t>
            </a:r>
          </a:p>
          <a:p>
            <a:pPr indent="0" lvl="0" marL="0" rtl="0" algn="l">
              <a:spcBef>
                <a:spcPts val="0"/>
              </a:spcBef>
              <a:spcAft>
                <a:spcPts val="100"/>
              </a:spcAft>
              <a:buNone/>
            </a:pPr>
            <a:r>
              <a:rPr lang="en-GB" sz="1100">
                <a:latin typeface="Poppins"/>
                <a:ea typeface="Poppins"/>
                <a:cs typeface="Poppins"/>
                <a:sym typeface="Poppins"/>
              </a:rPr>
              <a:t>ESP32 DevKit V1: ₹500 | MPU6050 Accelerometer: ₹150 | MQ-Series Gas Sensor: ₹200 | DHT11 Temp/Humidity: ₹100 | Buzzer: ₹30 | Wiring/Breadboard: ₹100</a:t>
            </a:r>
          </a:p>
          <a:p>
            <a:pPr indent="0" lvl="0" marL="0" rtl="0" algn="l">
              <a:spcBef>
                <a:spcPts val="0"/>
              </a:spcBef>
              <a:spcAft>
                <a:spcPts val="300"/>
              </a:spcAft>
              <a:buNone/>
            </a:pPr>
            <a:r>
              <a:rPr b="1" lang="en-GB" sz="1200">
                <a:latin typeface="Poppins"/>
                <a:ea typeface="Poppins"/>
                <a:cs typeface="Poppins"/>
                <a:sym typeface="Poppins"/>
              </a:rPr>
              <a:t>Total per zone: ~₹1,080</a:t>
            </a:r>
          </a:p>
          <a:p>
            <a:pPr indent="0" lvl="0" marL="0" rtl="0" algn="l">
              <a:spcBef>
                <a:spcPts val="0"/>
              </a:spcBef>
              <a:spcAft>
                <a:spcPts val="200"/>
              </a:spcAft>
              <a:buNone/>
            </a:pPr>
            <a:r>
              <a:rPr b="1" lang="en-GB" sz="1200">
                <a:latin typeface="Poppins"/>
                <a:ea typeface="Poppins"/>
                <a:cs typeface="Poppins"/>
                <a:sym typeface="Poppins"/>
              </a:rPr>
              <a:t>Infrastructure:</a:t>
            </a:r>
            <a:r>
              <a:rPr lang="en-GB" sz="1200">
                <a:latin typeface="Poppins"/>
                <a:ea typeface="Poppins"/>
                <a:cs typeface="Poppins"/>
                <a:sym typeface="Poppins"/>
              </a:rPr>
              <a:t xml:space="preserve"> Gateway server uses existing campus IT hardware (AMD Ryzen desktop/laptop). Software stack is 100% open-source with zero licensing fees (Next.js, React, Python, Arduino).</a:t>
            </a:r>
          </a:p>
          <a:p>
            <a:pPr indent="0" lvl="0" marL="0" rtl="0" algn="l">
              <a:spcBef>
                <a:spcPts val="0"/>
              </a:spcBef>
              <a:spcAft>
                <a:spcPts val="200"/>
              </a:spcAft>
              <a:buNone/>
            </a:pPr>
            <a:r>
              <a:rPr b="1" lang="en-GB" sz="1200">
                <a:latin typeface="Poppins"/>
                <a:ea typeface="Poppins"/>
                <a:cs typeface="Poppins"/>
                <a:sym typeface="Poppins"/>
              </a:rPr>
              <a:t>10-Zone Campus Deployment: ~₹10,800 hardware + ₹0 software = Under ₹15,000 total</a:t>
            </a:r>
          </a:p>
          <a:p>
            <a:pPr indent="0" lvl="0" marL="0" rtl="0" algn="l">
              <a:spcBef>
                <a:spcPts val="0"/>
              </a:spcBef>
              <a:spcAft>
                <a:spcPts val="0"/>
              </a:spcAft>
              <a:buNone/>
            </a:pPr>
            <a:r>
              <a:rPr lang="en-GB" sz="1200">
                <a:latin typeface="Poppins"/>
                <a:ea typeface="Poppins"/>
                <a:cs typeface="Poppins"/>
                <a:sym typeface="Poppins"/>
              </a:rPr>
              <a:t>Comparable commercial multi-hazard detection systems cost ₹5-15 lakhs. SafetyHub achieves similar functionality at under 1% of the cost.</a:t>
            </a:r>
            <a:endParaRPr sz="1200">
              <a:latin typeface="Poppins"/>
              <a:ea typeface="Poppins"/>
              <a:cs typeface="Poppins"/>
              <a:sym typeface="Poppins"/>
            </a:endParaRPr>
          </a:p>
        </p:txBody>
      </p:sp>
      <p:pic>
        <p:nvPicPr>
          <p:cNvPr id="130" name="Google Shape;130;p22" title="AMD.PS.S22.png"/>
          <p:cNvPicPr preferRelativeResize="0"/>
          <p:nvPr/>
        </p:nvPicPr>
        <p:blipFill rotWithShape="1">
          <a:blip r:embed="rId3">
            <a:alphaModFix/>
          </a:blip>
          <a:srcRect b="89082" l="0" r="0" t="0"/>
          <a:stretch/>
        </p:blipFill>
        <p:spPr>
          <a:xfrm>
            <a:off x="0" y="0"/>
            <a:ext cx="9144000" cy="561524"/>
          </a:xfrm>
          <a:prstGeom prst="rect">
            <a:avLst/>
          </a:prstGeom>
          <a:noFill/>
          <a:ln>
            <a:noFill/>
          </a:ln>
        </p:spPr>
      </p:pic>
      <p:pic>
        <p:nvPicPr>
          <p:cNvPr id="131" name="Google Shape;131;p22" title="AMD.PS.S11.png"/>
          <p:cNvPicPr preferRelativeResize="0"/>
          <p:nvPr/>
        </p:nvPicPr>
        <p:blipFill rotWithShape="1">
          <a:blip r:embed="rId4">
            <a:alphaModFix/>
          </a:blip>
          <a:srcRect b="0" l="0" r="0" t="98295"/>
          <a:stretch/>
        </p:blipFill>
        <p:spPr>
          <a:xfrm>
            <a:off x="0" y="5055825"/>
            <a:ext cx="9144000" cy="876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idx="1" type="subTitle"/>
          </p:nvPr>
        </p:nvSpPr>
        <p:spPr>
          <a:xfrm>
            <a:off x="311700" y="1926000"/>
            <a:ext cx="8520600" cy="2848800"/>
          </a:xfrm>
          <a:prstGeom prst="rect">
            <a:avLst/>
          </a:prstGeom>
        </p:spPr>
        <p:txBody>
          <a:bodyPr anchorCtr="0" anchor="t" bIns="91425" lIns="91425" spcFirstLastPara="1" rIns="91425" wrap="square" tIns="91425">
            <a:normAutofit/>
          </a:bodyPr>
          <a:lstStyle/>
          <a:p>
            <a:pPr indent="0" lvl="0" marL="0" rtl="0" algn="l">
              <a:spcBef>
                <a:spcPts val="0"/>
              </a:spcBef>
              <a:spcAft>
                <a:spcPts val="300"/>
              </a:spcAft>
              <a:buNone/>
            </a:pPr>
            <a:r>
              <a:rPr b="1" lang="en-GB" sz="1300">
                <a:latin typeface="Poppins"/>
                <a:ea typeface="Poppins"/>
                <a:cs typeface="Poppins"/>
                <a:sym typeface="Poppins"/>
              </a:rPr>
              <a:t>GitHub Repository:</a:t>
            </a:r>
            <a:r>
              <a:rPr lang="en-GB" sz="1300">
                <a:latin typeface="Poppins"/>
                <a:ea typeface="Poppins"/>
                <a:cs typeface="Poppins"/>
                <a:sym typeface="Poppins"/>
              </a:rPr>
              <a:t xml:space="preserve"> [To be added before submission]</a:t>
            </a:r>
          </a:p>
          <a:p>
            <a:pPr indent="0" lvl="0" marL="0" rtl="0" algn="l">
              <a:spcBef>
                <a:spcPts val="0"/>
              </a:spcBef>
              <a:spcAft>
                <a:spcPts val="300"/>
              </a:spcAft>
              <a:buNone/>
            </a:pPr>
            <a:r>
              <a:rPr b="1" lang="en-GB" sz="1300">
                <a:latin typeface="Poppins"/>
                <a:ea typeface="Poppins"/>
                <a:cs typeface="Poppins"/>
                <a:sym typeface="Poppins"/>
              </a:rPr>
              <a:t>Demo Video:</a:t>
            </a:r>
            <a:r>
              <a:rPr lang="en-GB" sz="1300">
                <a:latin typeface="Poppins"/>
                <a:ea typeface="Poppins"/>
                <a:cs typeface="Poppins"/>
                <a:sym typeface="Poppins"/>
              </a:rPr>
              <a:t xml:space="preserve"> [To be added before submission]</a:t>
            </a:r>
          </a:p>
          <a:p>
            <a:pPr indent="0" lvl="0" marL="0" rtl="0" algn="l">
              <a:spcBef>
                <a:spcPts val="0"/>
              </a:spcBef>
              <a:spcAft>
                <a:spcPts val="0"/>
              </a:spcAft>
              <a:buNone/>
            </a:pPr>
            <a:r>
              <a:rPr b="1" lang="en-GB" sz="1300">
                <a:latin typeface="Poppins"/>
                <a:ea typeface="Poppins"/>
                <a:cs typeface="Poppins"/>
                <a:sym typeface="Poppins"/>
              </a:rPr>
              <a:t>Prototype Status:</a:t>
            </a:r>
            <a:r>
              <a:rPr lang="en-GB" sz="1300">
                <a:latin typeface="Poppins"/>
                <a:ea typeface="Poppins"/>
                <a:cs typeface="Poppins"/>
                <a:sym typeface="Poppins"/>
              </a:rPr>
              <a:t xml:space="preserve"> Fully functional end-to-end prototype with ESP32 hardware, Python gateway, and Next.js real-time dashboard. Tested at Sri Krishna Arts and Science College (SKASC) campus.</a:t>
            </a:r>
            <a:endParaRPr sz="1300">
              <a:latin typeface="Poppins"/>
              <a:ea typeface="Poppins"/>
              <a:cs typeface="Poppins"/>
              <a:sym typeface="Poppins"/>
            </a:endParaRPr>
          </a:p>
        </p:txBody>
      </p:sp>
      <p:sp>
        <p:nvSpPr>
          <p:cNvPr id="137" name="Google Shape;137;p23"/>
          <p:cNvSpPr txBox="1"/>
          <p:nvPr>
            <p:ph type="ctrTitle"/>
          </p:nvPr>
        </p:nvSpPr>
        <p:spPr>
          <a:xfrm>
            <a:off x="311700" y="744575"/>
            <a:ext cx="8520600" cy="447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990"/>
              <a:buNone/>
            </a:pPr>
            <a:r>
              <a:rPr b="1" lang="en-GB" sz="1620">
                <a:latin typeface="Poppins"/>
                <a:ea typeface="Poppins"/>
                <a:cs typeface="Poppins"/>
                <a:sym typeface="Poppins"/>
              </a:rPr>
              <a:t>Prototype Assets (Optional)</a:t>
            </a:r>
            <a:endParaRPr b="1" sz="1620">
              <a:latin typeface="Poppins"/>
              <a:ea typeface="Poppins"/>
              <a:cs typeface="Poppins"/>
              <a:sym typeface="Poppins"/>
            </a:endParaRPr>
          </a:p>
        </p:txBody>
      </p:sp>
      <p:sp>
        <p:nvSpPr>
          <p:cNvPr id="138" name="Google Shape;138;p23"/>
          <p:cNvSpPr txBox="1"/>
          <p:nvPr/>
        </p:nvSpPr>
        <p:spPr>
          <a:xfrm>
            <a:off x="311700" y="1192175"/>
            <a:ext cx="8520600" cy="6480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Font typeface="Poppins"/>
              <a:buChar char="➔"/>
            </a:pPr>
            <a:r>
              <a:rPr lang="en-GB">
                <a:solidFill>
                  <a:schemeClr val="dk1"/>
                </a:solidFill>
                <a:latin typeface="Poppins"/>
                <a:ea typeface="Poppins"/>
                <a:cs typeface="Poppins"/>
                <a:sym typeface="Poppins"/>
              </a:rPr>
              <a:t>GitHub Public Repository Link</a:t>
            </a:r>
            <a:endParaRPr>
              <a:solidFill>
                <a:schemeClr val="dk1"/>
              </a:solidFill>
              <a:latin typeface="Poppins"/>
              <a:ea typeface="Poppins"/>
              <a:cs typeface="Poppins"/>
              <a:sym typeface="Poppins"/>
            </a:endParaRPr>
          </a:p>
          <a:p>
            <a:pPr indent="-317500" lvl="0" marL="457200" rtl="0" algn="l">
              <a:lnSpc>
                <a:spcPct val="115000"/>
              </a:lnSpc>
              <a:spcBef>
                <a:spcPts val="0"/>
              </a:spcBef>
              <a:spcAft>
                <a:spcPts val="0"/>
              </a:spcAft>
              <a:buClr>
                <a:schemeClr val="dk1"/>
              </a:buClr>
              <a:buSzPts val="1400"/>
              <a:buFont typeface="Poppins"/>
              <a:buChar char="➔"/>
            </a:pPr>
            <a:r>
              <a:rPr lang="en-GB">
                <a:solidFill>
                  <a:schemeClr val="dk1"/>
                </a:solidFill>
                <a:latin typeface="Poppins"/>
                <a:ea typeface="Poppins"/>
                <a:cs typeface="Poppins"/>
                <a:sym typeface="Poppins"/>
              </a:rPr>
              <a:t>Demo Video Link (Max: 3 Minutes)</a:t>
            </a:r>
            <a:endParaRPr/>
          </a:p>
        </p:txBody>
      </p:sp>
      <p:pic>
        <p:nvPicPr>
          <p:cNvPr id="139" name="Google Shape;139;p23" title="AMD.PS.S22.png"/>
          <p:cNvPicPr preferRelativeResize="0"/>
          <p:nvPr/>
        </p:nvPicPr>
        <p:blipFill rotWithShape="1">
          <a:blip r:embed="rId3">
            <a:alphaModFix/>
          </a:blip>
          <a:srcRect b="89082" l="0" r="0" t="0"/>
          <a:stretch/>
        </p:blipFill>
        <p:spPr>
          <a:xfrm>
            <a:off x="0" y="0"/>
            <a:ext cx="9144000" cy="561524"/>
          </a:xfrm>
          <a:prstGeom prst="rect">
            <a:avLst/>
          </a:prstGeom>
          <a:noFill/>
          <a:ln>
            <a:noFill/>
          </a:ln>
        </p:spPr>
      </p:pic>
      <p:pic>
        <p:nvPicPr>
          <p:cNvPr id="140" name="Google Shape;140;p23" title="AMD.PS.S11.png"/>
          <p:cNvPicPr preferRelativeResize="0"/>
          <p:nvPr/>
        </p:nvPicPr>
        <p:blipFill rotWithShape="1">
          <a:blip r:embed="rId4">
            <a:alphaModFix/>
          </a:blip>
          <a:srcRect b="0" l="0" r="0" t="98295"/>
          <a:stretch/>
        </p:blipFill>
        <p:spPr>
          <a:xfrm>
            <a:off x="0" y="5055825"/>
            <a:ext cx="9144000" cy="876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4"/>
          <p:cNvSpPr txBox="1"/>
          <p:nvPr>
            <p:ph idx="1" type="subTitle"/>
          </p:nvPr>
        </p:nvSpPr>
        <p:spPr>
          <a:xfrm>
            <a:off x="311700" y="1285750"/>
            <a:ext cx="8520600" cy="3489000"/>
          </a:xfrm>
          <a:prstGeom prst="rect">
            <a:avLst/>
          </a:prstGeom>
        </p:spPr>
        <p:txBody>
          <a:bodyPr anchorCtr="0" anchor="t" bIns="91425" lIns="91425" spcFirstLastPara="1" rIns="91425" wrap="square" tIns="91425">
            <a:normAutofit/>
          </a:bodyPr>
          <a:lstStyle/>
          <a:p>
            <a:pPr indent="0" lvl="0" marL="0" rtl="0" algn="l">
              <a:spcBef>
                <a:spcPts val="0"/>
              </a:spcBef>
              <a:spcAft>
                <a:spcPts val="300"/>
              </a:spcAft>
              <a:buNone/>
            </a:pPr>
            <a:r>
              <a:rPr b="1" lang="en-GB" sz="1200">
                <a:latin typeface="Poppins"/>
                <a:ea typeface="Poppins"/>
                <a:cs typeface="Poppins"/>
                <a:sym typeface="Poppins"/>
              </a:rPr>
              <a:t>What Makes SafetyHub Stand Out:</a:t>
            </a:r>
          </a:p>
          <a:p>
            <a:pPr indent="0" lvl="0" marL="0" rtl="0" algn="l">
              <a:spcBef>
                <a:spcPts val="0"/>
              </a:spcBef>
              <a:spcAft>
                <a:spcPts val="150"/>
              </a:spcAft>
              <a:buNone/>
            </a:pPr>
            <a:r>
              <a:rPr lang="en-GB" sz="1100">
                <a:latin typeface="Poppins"/>
                <a:ea typeface="Poppins"/>
                <a:cs typeface="Poppins"/>
                <a:sym typeface="Poppins"/>
              </a:rPr>
              <a:t>1. Working end-to-end prototype (not just a concept) with real hardware + production-grade software</a:t>
            </a:r>
          </a:p>
          <a:p>
            <a:pPr indent="0" lvl="0" marL="0" rtl="0" algn="l">
              <a:spcBef>
                <a:spcPts val="0"/>
              </a:spcBef>
              <a:spcAft>
                <a:spcPts val="150"/>
              </a:spcAft>
              <a:buNone/>
            </a:pPr>
            <a:r>
              <a:rPr lang="en-GB" sz="1100">
                <a:latin typeface="Poppins"/>
                <a:ea typeface="Poppins"/>
                <a:cs typeface="Poppins"/>
                <a:sym typeface="Poppins"/>
              </a:rPr>
              <a:t>2. Multi-hazard detection (earthquake + gas + fire) in a single integrated system</a:t>
            </a:r>
          </a:p>
          <a:p>
            <a:pPr indent="0" lvl="0" marL="0" rtl="0" algn="l">
              <a:spcBef>
                <a:spcPts val="0"/>
              </a:spcBef>
              <a:spcAft>
                <a:spcPts val="150"/>
              </a:spcAft>
              <a:buNone/>
            </a:pPr>
            <a:r>
              <a:rPr lang="en-GB" sz="1100">
                <a:latin typeface="Poppins"/>
                <a:ea typeface="Poppins"/>
                <a:cs typeface="Poppins"/>
                <a:sym typeface="Poppins"/>
              </a:rPr>
              <a:t>3. Under 1% cost of commercial alternatives while matching core functionality</a:t>
            </a:r>
          </a:p>
          <a:p>
            <a:pPr indent="0" lvl="0" marL="0" rtl="0" algn="l">
              <a:spcBef>
                <a:spcPts val="0"/>
              </a:spcBef>
              <a:spcAft>
                <a:spcPts val="150"/>
              </a:spcAft>
              <a:buNone/>
            </a:pPr>
            <a:r>
              <a:rPr lang="en-GB" sz="1100">
                <a:latin typeface="Poppins"/>
                <a:ea typeface="Poppins"/>
                <a:cs typeface="Poppins"/>
                <a:sym typeface="Poppins"/>
              </a:rPr>
              <a:t>4. Clear AMD integration roadmap (Ryzen edge servers, EPYC scaling, Xilinx FPGA sensor fusion, ROCm AI)</a:t>
            </a:r>
          </a:p>
          <a:p>
            <a:pPr indent="0" lvl="0" marL="0" rtl="0" algn="l">
              <a:spcBef>
                <a:spcPts val="0"/>
              </a:spcBef>
              <a:spcAft>
                <a:spcPts val="400"/>
              </a:spcAft>
              <a:buNone/>
            </a:pPr>
            <a:r>
              <a:rPr lang="en-GB" sz="1100">
                <a:latin typeface="Poppins"/>
                <a:ea typeface="Poppins"/>
                <a:cs typeface="Poppins"/>
                <a:sym typeface="Poppins"/>
              </a:rPr>
              <a:t>5. Scalable zone-based architecture ready for multi-campus deployment</a:t>
            </a:r>
          </a:p>
          <a:p>
            <a:pPr indent="0" lvl="0" marL="0" rtl="0" algn="l">
              <a:spcBef>
                <a:spcPts val="0"/>
              </a:spcBef>
              <a:spcAft>
                <a:spcPts val="200"/>
              </a:spcAft>
              <a:buNone/>
            </a:pPr>
            <a:r>
              <a:rPr b="1" lang="en-GB" sz="1200">
                <a:latin typeface="Poppins"/>
                <a:ea typeface="Poppins"/>
                <a:cs typeface="Poppins"/>
                <a:sym typeface="Poppins"/>
              </a:rPr>
              <a:t>Future Roadmap:</a:t>
            </a:r>
            <a:r>
              <a:rPr lang="en-GB" sz="1100">
                <a:latin typeface="Poppins"/>
                <a:ea typeface="Poppins"/>
                <a:cs typeface="Poppins"/>
                <a:sym typeface="Poppins"/>
              </a:rPr>
              <a:t xml:space="preserve"> Multi-zone simultaneous monitoring, interactive campus map with sensor overlays, push notifications via Firebase, AI-powered anomaly prediction using AMD ROCm, migration from ESP32 to AMD Xilinx Adaptive SoC for edge intelligence.</a:t>
            </a:r>
            <a:endParaRPr sz="1100">
              <a:latin typeface="Poppins"/>
              <a:ea typeface="Poppins"/>
              <a:cs typeface="Poppins"/>
              <a:sym typeface="Poppins"/>
            </a:endParaRPr>
          </a:p>
        </p:txBody>
      </p:sp>
      <p:sp>
        <p:nvSpPr>
          <p:cNvPr id="146" name="Google Shape;146;p24"/>
          <p:cNvSpPr txBox="1"/>
          <p:nvPr>
            <p:ph type="ctrTitle"/>
          </p:nvPr>
        </p:nvSpPr>
        <p:spPr>
          <a:xfrm>
            <a:off x="311700" y="744575"/>
            <a:ext cx="8520600" cy="447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990"/>
              <a:buNone/>
            </a:pPr>
            <a:r>
              <a:rPr b="1" lang="en-GB" sz="1620">
                <a:latin typeface="Poppins"/>
                <a:ea typeface="Poppins"/>
                <a:cs typeface="Poppins"/>
                <a:sym typeface="Poppins"/>
              </a:rPr>
              <a:t>Why SafetyHub Should Be Shortlisted</a:t>
            </a:r>
            <a:endParaRPr b="1" sz="1620">
              <a:latin typeface="Poppins"/>
              <a:ea typeface="Poppins"/>
              <a:cs typeface="Poppins"/>
              <a:sym typeface="Poppins"/>
            </a:endParaRPr>
          </a:p>
        </p:txBody>
      </p:sp>
      <p:pic>
        <p:nvPicPr>
          <p:cNvPr id="147" name="Google Shape;147;p24" title="AMD.PS.S22.png"/>
          <p:cNvPicPr preferRelativeResize="0"/>
          <p:nvPr/>
        </p:nvPicPr>
        <p:blipFill rotWithShape="1">
          <a:blip r:embed="rId3">
            <a:alphaModFix/>
          </a:blip>
          <a:srcRect b="89082" l="0" r="0" t="0"/>
          <a:stretch/>
        </p:blipFill>
        <p:spPr>
          <a:xfrm>
            <a:off x="0" y="0"/>
            <a:ext cx="9144000" cy="561524"/>
          </a:xfrm>
          <a:prstGeom prst="rect">
            <a:avLst/>
          </a:prstGeom>
          <a:noFill/>
          <a:ln>
            <a:noFill/>
          </a:ln>
        </p:spPr>
      </p:pic>
      <p:pic>
        <p:nvPicPr>
          <p:cNvPr id="148" name="Google Shape;148;p24" title="AMD.PS.S11.png"/>
          <p:cNvPicPr preferRelativeResize="0"/>
          <p:nvPr/>
        </p:nvPicPr>
        <p:blipFill rotWithShape="1">
          <a:blip r:embed="rId4">
            <a:alphaModFix/>
          </a:blip>
          <a:srcRect b="0" l="0" r="0" t="98295"/>
          <a:stretch/>
        </p:blipFill>
        <p:spPr>
          <a:xfrm>
            <a:off x="0" y="5055825"/>
            <a:ext cx="9144000" cy="876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25" title="AMD.PS.S22.png"/>
          <p:cNvPicPr preferRelativeResize="0"/>
          <p:nvPr/>
        </p:nvPicPr>
        <p:blipFill rotWithShape="1">
          <a:blip r:embed="rId3">
            <a:alphaModFix/>
          </a:blip>
          <a:srcRect b="89082" l="0" r="0" t="0"/>
          <a:stretch/>
        </p:blipFill>
        <p:spPr>
          <a:xfrm>
            <a:off x="0" y="0"/>
            <a:ext cx="9144000" cy="561524"/>
          </a:xfrm>
          <a:prstGeom prst="rect">
            <a:avLst/>
          </a:prstGeom>
          <a:noFill/>
          <a:ln>
            <a:noFill/>
          </a:ln>
        </p:spPr>
      </p:pic>
      <p:pic>
        <p:nvPicPr>
          <p:cNvPr id="154" name="Google Shape;154;p25" title="AMD.PS.S11.png"/>
          <p:cNvPicPr preferRelativeResize="0"/>
          <p:nvPr/>
        </p:nvPicPr>
        <p:blipFill rotWithShape="1">
          <a:blip r:embed="rId4">
            <a:alphaModFix/>
          </a:blip>
          <a:srcRect b="0" l="0" r="0" t="98295"/>
          <a:stretch/>
        </p:blipFill>
        <p:spPr>
          <a:xfrm>
            <a:off x="0" y="5055825"/>
            <a:ext cx="9144000" cy="876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26" title="AMD.PS.S22.png"/>
          <p:cNvPicPr preferRelativeResize="0"/>
          <p:nvPr/>
        </p:nvPicPr>
        <p:blipFill rotWithShape="1">
          <a:blip r:embed="rId3">
            <a:alphaModFix/>
          </a:blip>
          <a:srcRect b="89082" l="0" r="0" t="0"/>
          <a:stretch/>
        </p:blipFill>
        <p:spPr>
          <a:xfrm>
            <a:off x="0" y="0"/>
            <a:ext cx="9144000" cy="561524"/>
          </a:xfrm>
          <a:prstGeom prst="rect">
            <a:avLst/>
          </a:prstGeom>
          <a:noFill/>
          <a:ln>
            <a:noFill/>
          </a:ln>
        </p:spPr>
      </p:pic>
      <p:pic>
        <p:nvPicPr>
          <p:cNvPr id="160" name="Google Shape;160;p26" title="AMD.PS.S11.png"/>
          <p:cNvPicPr preferRelativeResize="0"/>
          <p:nvPr/>
        </p:nvPicPr>
        <p:blipFill rotWithShape="1">
          <a:blip r:embed="rId4">
            <a:alphaModFix/>
          </a:blip>
          <a:srcRect b="0" l="0" r="0" t="98295"/>
          <a:stretch/>
        </p:blipFill>
        <p:spPr>
          <a:xfrm>
            <a:off x="0" y="5055825"/>
            <a:ext cx="9144000" cy="876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66" name="Google Shape;166;p2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67" name="Google Shape;167;p27" title="AMD.PS.S33.png"/>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